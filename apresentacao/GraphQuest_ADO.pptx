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aster1"/>
  </p:sldMasterIdLst>
  <p:sldIdLst>
    <p:sldId id="256" r:id="rIdSlide1"/>
    <p:sldId id="257" r:id="rIdSlide2"/>
    <p:sldId id="258" r:id="rIdSlide3"/>
    <p:sldId id="259" r:id="rIdSlide4"/>
    <p:sldId id="260" r:id="rIdSlide5"/>
    <p:sldId id="261" r:id="rIdSlide6"/>
    <p:sldId id="262" r:id="rIdSlide7"/>
    <p:sldId id="263" r:id="rIdSlide8"/>
    <p:sldId id="264" r:id="rIdSlide9"/>
    <p:sldId id="265" r:id="rIdSlide10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Master1" Type="http://schemas.openxmlformats.org/officeDocument/2006/relationships/slideMaster" Target="slideMasters/slideMaster1.xml"/>
  <Relationship Id="rIdSlide1" Type="http://schemas.openxmlformats.org/officeDocument/2006/relationships/slide" Target="slides/slide1.xml"/>
  <Relationship Id="rIdSlide2" Type="http://schemas.openxmlformats.org/officeDocument/2006/relationships/slide" Target="slides/slide2.xml"/>
  <Relationship Id="rIdSlide3" Type="http://schemas.openxmlformats.org/officeDocument/2006/relationships/slide" Target="slides/slide3.xml"/>
  <Relationship Id="rIdSlide4" Type="http://schemas.openxmlformats.org/officeDocument/2006/relationships/slide" Target="slides/slide4.xml"/>
  <Relationship Id="rIdSlide5" Type="http://schemas.openxmlformats.org/officeDocument/2006/relationships/slide" Target="slides/slide5.xml"/>
  <Relationship Id="rIdSlide6" Type="http://schemas.openxmlformats.org/officeDocument/2006/relationships/slide" Target="slides/slide6.xml"/>
  <Relationship Id="rIdSlide7" Type="http://schemas.openxmlformats.org/officeDocument/2006/relationships/slide" Target="slides/slide7.xml"/>
  <Relationship Id="rIdSlide8" Type="http://schemas.openxmlformats.org/officeDocument/2006/relationships/slide" Target="slides/slide8.xml"/>
  <Relationship Id="rIdSlide9" Type="http://schemas.openxmlformats.org/officeDocument/2006/relationships/slide" Target="slides/slide9.xml"/>
  <Relationship Id="rIdSlide10" Type="http://schemas.openxmlformats.org/officeDocument/2006/relationships/slide" Target="slides/slide10.xml"/>
</Relationships>
</file>

<file path=ppt/slideLayouts/_rels/slideLayout1.xml.rels><?xml version="1.0" encoding="UTF-8" standalone="yes"?>
<Relationships xmlns="http://schemas.openxmlformats.org/package/2006/relationships">
  <Relationship Id="rIdMaster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Layout1" Type="http://schemas.openxmlformats.org/officeDocument/2006/relationships/slideLayout" Target="../slideLayouts/slideLayout1.xml"/>
  <Relationship Id="rIdTheme1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Layout1"/>
  </p:sldLayoutIdLst>
</p:sldMaster>
</file>

<file path=ppt/slides/_rels/slide1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  <Relationship Id="rIdPic" Type="http://schemas.openxmlformats.org/officeDocument/2006/relationships/image" Target="../media/image1.png"/>
</Relationships>
</file>

<file path=ppt/slides/_rels/slide5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  <Relationship Id="rIdPic" Type="http://schemas.openxmlformats.org/officeDocument/2006/relationships/image" Target="../media/image5.png"/>
</Relationships>
</file>

<file path=ppt/slides/_rels/slide8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  <Relationship Id="rIdPic" Type="http://schemas.openxmlformats.org/officeDocument/2006/relationships/image" Target="../media/image2.png"/>
</Relationships>
</file>

<file path=ppt/slides/_rels/slide9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ndo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017"/>
          </a:solidFill>
        </p:spPr>
      </p:sp>
      <p:sp>
        <p:nvSpPr>
          <p:cNvPr id="15442" name="Texto"/>
          <p:cNvSpPr/>
          <p:nvPr/>
        </p:nvSpPr>
        <p:spPr>
          <a:xfrm>
            <a:off x="762000" y="1143000"/>
            <a:ext cx="10668000" cy="9000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r>
              <a:rPr lang="pt-BR" sz="5200" b="1">
                <a:solidFill>
                  <a:srgbClr val="F59E0B"/>
                </a:solidFill>
                <a:latin typeface="Segoe UI"/>
              </a:rPr>
              <a:t>GRAPHQUEST</a:t>
            </a:r>
          </a:p>
        </p:txBody>
      </p:sp>
      <p:sp>
        <p:nvSpPr>
          <p:cNvPr id="22916" name="Texto"/>
          <p:cNvSpPr/>
          <p:nvPr/>
        </p:nvSpPr>
        <p:spPr>
          <a:xfrm>
            <a:off x="762000" y="2050000"/>
            <a:ext cx="10668000" cy="6000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r>
              <a:rPr lang="pt-BR" sz="2400" b="1">
                <a:solidFill>
                  <a:srgbClr val="FFFFFF"/>
                </a:solidFill>
                <a:latin typeface="Segoe UI"/>
              </a:rPr>
              <a:t>A Jornada dos Grafos — Estrutura de Dados Aplicada em Java</a:t>
            </a:r>
          </a:p>
        </p:txBody>
      </p:sp>
      <p:sp>
        <p:nvSpPr>
          <p:cNvPr id="71048" name="Texto"/>
          <p:cNvSpPr/>
          <p:nvPr/>
        </p:nvSpPr>
        <p:spPr>
          <a:xfrm>
            <a:off x="762000" y="2650000"/>
            <a:ext cx="10668000" cy="4000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r>
              <a:rPr lang="pt-BR" sz="1600" b="0">
                <a:solidFill>
                  <a:srgbClr val="9CA3AF"/>
                </a:solidFill>
                <a:latin typeface="Segoe UI"/>
              </a:rPr>
              <a:t>Atividade Prática Acadêmica ADO • Algoritmo de Busca em Largura (BFS)</a:t>
            </a:r>
          </a:p>
        </p:txBody>
      </p:sp>
      <p:sp>
        <p:nvSpPr>
          <p:cNvPr id="24970" name="Card"/>
          <p:cNvSpPr/>
          <p:nvPr/>
        </p:nvSpPr>
        <p:spPr>
          <a:xfrm>
            <a:off x="762000" y="3400000"/>
            <a:ext cx="10668000" cy="25000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</p:sp>
      <p:sp>
        <p:nvSpPr>
          <p:cNvPr id="79539" name="Texto"/>
          <p:cNvSpPr/>
          <p:nvPr/>
        </p:nvSpPr>
        <p:spPr>
          <a:xfrm>
            <a:off x="1143000" y="3650000"/>
            <a:ext cx="9906000" cy="4500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r>
              <a:rPr lang="pt-BR" sz="1800" b="1">
                <a:solidFill>
                  <a:srgbClr val="F59E0B"/>
                </a:solidFill>
                <a:latin typeface="Segoe UI"/>
              </a:rPr>
              <a:t>IDENTIFICAÇÃO ACADÊMICA</a:t>
            </a:r>
          </a:p>
        </p:txBody>
      </p:sp>
      <p:sp>
        <p:nvSpPr>
          <p:cNvPr id="81204" name="Texto"/>
          <p:cNvSpPr/>
          <p:nvPr/>
        </p:nvSpPr>
        <p:spPr>
          <a:xfrm>
            <a:off x="1143000" y="4150000"/>
            <a:ext cx="9906000" cy="3500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r>
              <a:rPr lang="pt-BR" sz="1600" b="0">
                <a:solidFill>
                  <a:srgbClr val="FFFFFF"/>
                </a:solidFill>
                <a:latin typeface="Segoe UI"/>
              </a:rPr>
              <a:t>• Disciplina: Estrutura de Dados</a:t>
            </a:r>
          </a:p>
        </p:txBody>
      </p:sp>
      <p:sp>
        <p:nvSpPr>
          <p:cNvPr id="17457" name="Texto"/>
          <p:cNvSpPr/>
          <p:nvPr/>
        </p:nvSpPr>
        <p:spPr>
          <a:xfrm>
            <a:off x="1143000" y="4550000"/>
            <a:ext cx="9906000" cy="3500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r>
              <a:rPr lang="pt-BR" sz="1600" b="0">
                <a:solidFill>
                  <a:srgbClr val="F3F4F6"/>
                </a:solidFill>
                <a:latin typeface="Segoe UI"/>
              </a:rPr>
              <a:t>• Integrantes: [ __________________________________________________ ]</a:t>
            </a:r>
          </a:p>
        </p:txBody>
      </p:sp>
      <p:sp>
        <p:nvSpPr>
          <p:cNvPr id="61622" name="Texto"/>
          <p:cNvSpPr/>
          <p:nvPr/>
        </p:nvSpPr>
        <p:spPr>
          <a:xfrm>
            <a:off x="1143000" y="4950000"/>
            <a:ext cx="9906000" cy="3500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r>
              <a:rPr lang="pt-BR" sz="1600" b="0">
                <a:solidFill>
                  <a:srgbClr val="F3F4F6"/>
                </a:solidFill>
                <a:latin typeface="Segoe UI"/>
              </a:rPr>
              <a:t>• Turma: [ ________________________ ]</a:t>
            </a:r>
          </a:p>
        </p:txBody>
      </p:sp>
      <p:sp>
        <p:nvSpPr>
          <p:cNvPr id="50837" name="Texto"/>
          <p:cNvSpPr/>
          <p:nvPr/>
        </p:nvSpPr>
        <p:spPr>
          <a:xfrm>
            <a:off x="1143000" y="5350000"/>
            <a:ext cx="9906000" cy="3500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r>
              <a:rPr lang="pt-BR" sz="1600" b="0">
                <a:solidFill>
                  <a:srgbClr val="F3F4F6"/>
                </a:solidFill>
                <a:latin typeface="Segoe UI"/>
              </a:rPr>
              <a:t>• Professor(a): [ __________________________________________________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ndo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017"/>
          </a:solidFill>
        </p:spPr>
      </p:sp>
      <p:sp>
        <p:nvSpPr>
          <p:cNvPr id="10" name="BarraDecor"/>
          <p:cNvSpPr/>
          <p:nvPr/>
        </p:nvSpPr>
        <p:spPr>
          <a:xfrm>
            <a:off x="762000" y="450000"/>
            <a:ext cx="10668000" cy="3000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9259" name="Texto"/>
          <p:cNvSpPr/>
          <p:nvPr/>
        </p:nvSpPr>
        <p:spPr>
          <a:xfrm>
            <a:off x="762000" y="550000"/>
            <a:ext cx="10668000" cy="5500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r>
              <a:rPr lang="pt-BR" sz="2600" b="1">
                <a:solidFill>
                  <a:srgbClr val="F59E0B"/>
                </a:solidFill>
                <a:latin typeface="Segoe UI"/>
              </a:rPr>
              <a:t>01. CONTEXTO E PROBLEMA ABORDADO</a:t>
            </a:r>
          </a:p>
        </p:txBody>
      </p:sp>
      <p:sp>
        <p:nvSpPr>
          <p:cNvPr id="21067" name="Texto"/>
          <p:cNvSpPr/>
          <p:nvPr/>
        </p:nvSpPr>
        <p:spPr>
          <a:xfrm>
            <a:off x="762000" y="1100000"/>
            <a:ext cx="10668000" cy="4000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r>
              <a:rPr lang="pt-BR" sz="1500" b="0">
                <a:solidFill>
                  <a:srgbClr val="9CA3AF"/>
                </a:solidFill>
                <a:latin typeface="Segoe UI"/>
              </a:rPr>
              <a:t>Navegação ótima e tomada de decisão em ambientes com bifurcações e barreiras</a:t>
            </a:r>
          </a:p>
        </p:txBody>
      </p:sp>
      <p:sp>
        <p:nvSpPr>
          <p:cNvPr id="77189" name="Card"/>
          <p:cNvSpPr/>
          <p:nvPr/>
        </p:nvSpPr>
        <p:spPr>
          <a:xfrm>
            <a:off x="762000" y="1800000"/>
            <a:ext cx="5000000" cy="44000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</p:sp>
      <p:sp>
        <p:nvSpPr>
          <p:cNvPr id="50876" name="Texto"/>
          <p:cNvSpPr/>
          <p:nvPr/>
        </p:nvSpPr>
        <p:spPr>
          <a:xfrm>
            <a:off x="1000000" y="2000000"/>
            <a:ext cx="4500000" cy="4000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r>
              <a:rPr lang="pt-BR" sz="2000" b="1">
                <a:solidFill>
                  <a:srgbClr val="F59E0B"/>
                </a:solidFill>
                <a:latin typeface="Segoe UI"/>
              </a:rPr>
              <a:t>O DESAFIO ACADÊMICO</a:t>
            </a:r>
          </a:p>
        </p:txBody>
      </p:sp>
      <p:sp>
        <p:nvSpPr>
          <p:cNvPr id="23813" name="Texto"/>
          <p:cNvSpPr/>
          <p:nvPr/>
        </p:nvSpPr>
        <p:spPr>
          <a:xfrm>
            <a:off x="1000000" y="2500000"/>
            <a:ext cx="4500000" cy="34000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r>
              <a:rPr lang="pt-BR" sz="1500" b="0">
                <a:solidFill>
                  <a:srgbClr val="FFFFFF"/>
                </a:solidFill>
                <a:latin typeface="Segoe UI"/>
              </a:rPr>
              <a:t>• Como encontrar o caminho mais curto até a saída em um labirinto subterrâneo?</a:t>
            </a:r>
          </a:p>
          <a:p>
            <a:r>
              <a:rPr lang="pt-BR" sz="1500" b="0">
                <a:solidFill>
                  <a:srgbClr val="FFFFFF"/>
                </a:solidFill>
                <a:latin typeface="Segoe UI"/>
              </a:rPr>
              <a:t/>
            </a:r>
          </a:p>
          <a:p>
            <a:r>
              <a:rPr lang="pt-BR" sz="1500" b="0">
                <a:solidFill>
                  <a:srgbClr val="FFFFFF"/>
                </a:solidFill>
                <a:latin typeface="Segoe UI"/>
              </a:rPr>
              <a:t>• Como contornar desmoronamentos intransitáveis sem entrar em loops infinitos?</a:t>
            </a:r>
          </a:p>
          <a:p>
            <a:r>
              <a:rPr lang="pt-BR" sz="1500" b="0">
                <a:solidFill>
                  <a:srgbClr val="FFFFFF"/>
                </a:solidFill>
                <a:latin typeface="Segoe UI"/>
              </a:rPr>
              <a:t/>
            </a:r>
          </a:p>
          <a:p>
            <a:r>
              <a:rPr lang="pt-BR" sz="1500" b="0">
                <a:solidFill>
                  <a:srgbClr val="FFFFFF"/>
                </a:solidFill>
                <a:latin typeface="Segoe UI"/>
              </a:rPr>
              <a:t>• Como coletar recompensas e gerenciar bloqueios dinâmicos de forma eficiente?</a:t>
            </a:r>
          </a:p>
          <a:p>
            <a:r>
              <a:rPr lang="pt-BR" sz="1500" b="0">
                <a:solidFill>
                  <a:srgbClr val="FFFFFF"/>
                </a:solidFill>
                <a:latin typeface="Segoe UI"/>
              </a:rPr>
              <a:t/>
            </a:r>
          </a:p>
          <a:p>
            <a:r>
              <a:rPr lang="pt-BR" sz="1500" b="0">
                <a:solidFill>
                  <a:srgbClr val="FFFFFF"/>
                </a:solidFill>
                <a:latin typeface="Segoe UI"/>
              </a:rPr>
              <a:t>• Necessidade de uma estrutura de dados real que modele conexões ponto a ponto com fidelidade.</a:t>
            </a:r>
          </a:p>
        </p:txBody>
      </p:sp>
      <p:sp>
        <p:nvSpPr>
          <p:cNvPr id="35183" name="Card"/>
          <p:cNvSpPr/>
          <p:nvPr/>
        </p:nvSpPr>
        <p:spPr>
          <a:xfrm>
            <a:off x="6400000" y="1800000"/>
            <a:ext cx="5000000" cy="44000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</p:sp>
      <p:sp>
        <p:nvSpPr>
          <p:cNvPr id="67822" name="Texto"/>
          <p:cNvSpPr/>
          <p:nvPr/>
        </p:nvSpPr>
        <p:spPr>
          <a:xfrm>
            <a:off x="6650000" y="2000000"/>
            <a:ext cx="4500000" cy="4000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r>
              <a:rPr lang="pt-BR" sz="2000" b="1">
                <a:solidFill>
                  <a:srgbClr val="10B981"/>
                </a:solidFill>
                <a:latin typeface="Segoe UI"/>
              </a:rPr>
              <a:t>A SOLUÇÃO: GRAPHQUEST</a:t>
            </a:r>
          </a:p>
        </p:txBody>
      </p:sp>
      <p:sp>
        <p:nvSpPr>
          <p:cNvPr id="11492" name="Texto"/>
          <p:cNvSpPr/>
          <p:nvPr/>
        </p:nvSpPr>
        <p:spPr>
          <a:xfrm>
            <a:off x="6650000" y="2500000"/>
            <a:ext cx="4500000" cy="34000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r>
              <a:rPr lang="pt-BR" sz="1500" b="0">
                <a:solidFill>
                  <a:srgbClr val="FFFFFF"/>
                </a:solidFill>
                <a:latin typeface="Segoe UI"/>
              </a:rPr>
              <a:t>• Modelagem da Masmorra como um Grafo Não-Direcionado G = (V, E).</a:t>
            </a:r>
          </a:p>
          <a:p>
            <a:r>
              <a:rPr lang="pt-BR" sz="1500" b="0">
                <a:solidFill>
                  <a:srgbClr val="FFFFFF"/>
                </a:solidFill>
                <a:latin typeface="Segoe UI"/>
              </a:rPr>
              <a:t/>
            </a:r>
          </a:p>
          <a:p>
            <a:r>
              <a:rPr lang="pt-BR" sz="1500" b="0">
                <a:solidFill>
                  <a:srgbClr val="FFFFFF"/>
                </a:solidFill>
                <a:latin typeface="Segoe UI"/>
              </a:rPr>
              <a:t>• Salas = Vértices; Passagens navegáveis = Arestas.</a:t>
            </a:r>
          </a:p>
          <a:p>
            <a:r>
              <a:rPr lang="pt-BR" sz="1500" b="0">
                <a:solidFill>
                  <a:srgbClr val="FFFFFF"/>
                </a:solidFill>
                <a:latin typeface="Segoe UI"/>
              </a:rPr>
              <a:t/>
            </a:r>
          </a:p>
          <a:p>
            <a:r>
              <a:rPr lang="pt-BR" sz="1500" b="0">
                <a:solidFill>
                  <a:srgbClr val="FFFFFF"/>
                </a:solidFill>
                <a:latin typeface="Segoe UI"/>
              </a:rPr>
              <a:t>• BFS encontra o menor número de passagens; Dijkstra encontra o menor custo em corredores ponderados.</a:t>
            </a:r>
          </a:p>
          <a:p>
            <a:r>
              <a:rPr lang="pt-BR" sz="1500" b="0">
                <a:solidFill>
                  <a:srgbClr val="FFFFFF"/>
                </a:solidFill>
                <a:latin typeface="Segoe UI"/>
              </a:rPr>
              <a:t/>
            </a:r>
          </a:p>
          <a:p>
            <a:r>
              <a:rPr lang="pt-BR" sz="1500" b="0">
                <a:solidFill>
                  <a:srgbClr val="FFFFFF"/>
                </a:solidFill>
                <a:latin typeface="Segoe UI"/>
              </a:rPr>
              <a:t>• Interface gráfica desktop Java Swing com desenho vetorial Java2D didático.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ndo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017"/>
          </a:solidFill>
        </p:spPr>
      </p:sp>
      <p:sp>
        <p:nvSpPr>
          <p:cNvPr id="10" name="BarraDecor"/>
          <p:cNvSpPr/>
          <p:nvPr/>
        </p:nvSpPr>
        <p:spPr>
          <a:xfrm>
            <a:off x="762000" y="450000"/>
            <a:ext cx="10668000" cy="3000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40139" name="Texto"/>
          <p:cNvSpPr/>
          <p:nvPr/>
        </p:nvSpPr>
        <p:spPr>
          <a:xfrm>
            <a:off x="762000" y="550000"/>
            <a:ext cx="10668000" cy="5500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r>
              <a:rPr lang="pt-BR" sz="2600" b="1">
                <a:solidFill>
                  <a:srgbClr val="F59E0B"/>
                </a:solidFill>
                <a:latin typeface="Segoe UI"/>
              </a:rPr>
              <a:t>02. CONCEITOS FUNDAMENTAIS DE GRAFOS</a:t>
            </a:r>
          </a:p>
        </p:txBody>
      </p:sp>
      <p:sp>
        <p:nvSpPr>
          <p:cNvPr id="14840" name="Texto"/>
          <p:cNvSpPr/>
          <p:nvPr/>
        </p:nvSpPr>
        <p:spPr>
          <a:xfrm>
            <a:off x="762000" y="1100000"/>
            <a:ext cx="10668000" cy="4000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r>
              <a:rPr lang="pt-BR" sz="1500" b="0">
                <a:solidFill>
                  <a:srgbClr val="9CA3AF"/>
                </a:solidFill>
                <a:latin typeface="Segoe UI"/>
              </a:rPr>
              <a:t>A teoria matemática por trás da estrutura de dados implementada</a:t>
            </a:r>
          </a:p>
        </p:txBody>
      </p:sp>
      <p:sp>
        <p:nvSpPr>
          <p:cNvPr id="37542" name="Card"/>
          <p:cNvSpPr/>
          <p:nvPr/>
        </p:nvSpPr>
        <p:spPr>
          <a:xfrm>
            <a:off x="762000" y="1800000"/>
            <a:ext cx="3350000" cy="44000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</p:sp>
      <p:sp>
        <p:nvSpPr>
          <p:cNvPr id="52980" name="Texto"/>
          <p:cNvSpPr/>
          <p:nvPr/>
        </p:nvSpPr>
        <p:spPr>
          <a:xfrm>
            <a:off x="950000" y="2000000"/>
            <a:ext cx="3000000" cy="3500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r>
              <a:rPr lang="pt-BR" sz="1800" b="1">
                <a:solidFill>
                  <a:srgbClr val="F59E0B"/>
                </a:solidFill>
                <a:latin typeface="Segoe UI"/>
              </a:rPr>
              <a:t>VÉRTICES (V)</a:t>
            </a:r>
          </a:p>
        </p:txBody>
      </p:sp>
      <p:sp>
        <p:nvSpPr>
          <p:cNvPr id="81710" name="Texto"/>
          <p:cNvSpPr/>
          <p:nvPr/>
        </p:nvSpPr>
        <p:spPr>
          <a:xfrm>
            <a:off x="950000" y="2450000"/>
            <a:ext cx="3000000" cy="35000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r>
              <a:rPr lang="pt-BR" sz="1400" b="0">
                <a:solidFill>
                  <a:srgbClr val="FFFFFF"/>
                </a:solidFill>
                <a:latin typeface="Segoe UI"/>
              </a:rPr>
              <a:t>• Entidades fundamentais do grafo.</a:t>
            </a:r>
          </a:p>
          <a:p>
            <a:r>
              <a:rPr lang="pt-BR" sz="1400" b="0">
                <a:solidFill>
                  <a:srgbClr val="FFFFFF"/>
                </a:solidFill>
                <a:latin typeface="Segoe UI"/>
              </a:rPr>
              <a:t/>
            </a:r>
          </a:p>
          <a:p>
            <a:r>
              <a:rPr lang="pt-BR" sz="1400" b="0">
                <a:solidFill>
                  <a:srgbClr val="FFFFFF"/>
                </a:solidFill>
                <a:latin typeface="Segoe UI"/>
              </a:rPr>
              <a:t>• No GraphQuest, cada Vértice representa uma Câmara ou Sala da masmorra.</a:t>
            </a:r>
          </a:p>
          <a:p>
            <a:r>
              <a:rPr lang="pt-BR" sz="1400" b="0">
                <a:solidFill>
                  <a:srgbClr val="FFFFFF"/>
                </a:solidFill>
                <a:latin typeface="Segoe UI"/>
              </a:rPr>
              <a:t/>
            </a:r>
          </a:p>
          <a:p>
            <a:r>
              <a:rPr lang="pt-BR" sz="1400" b="0">
                <a:solidFill>
                  <a:srgbClr val="FFFFFF"/>
                </a:solidFill>
                <a:latin typeface="Segoe UI"/>
              </a:rPr>
              <a:t>• Cada sala armazena identificador único, nome, estado de visitação e regras de jogo (tesouro, itens, bloqueio).</a:t>
            </a:r>
          </a:p>
        </p:txBody>
      </p:sp>
      <p:sp>
        <p:nvSpPr>
          <p:cNvPr id="18973" name="Card"/>
          <p:cNvSpPr/>
          <p:nvPr/>
        </p:nvSpPr>
        <p:spPr>
          <a:xfrm>
            <a:off x="4400000" y="1800000"/>
            <a:ext cx="3350000" cy="44000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</p:sp>
      <p:sp>
        <p:nvSpPr>
          <p:cNvPr id="81613" name="Texto"/>
          <p:cNvSpPr/>
          <p:nvPr/>
        </p:nvSpPr>
        <p:spPr>
          <a:xfrm>
            <a:off x="4600000" y="2000000"/>
            <a:ext cx="3000000" cy="3500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r>
              <a:rPr lang="pt-BR" sz="1800" b="1">
                <a:solidFill>
                  <a:srgbClr val="3B82F6"/>
                </a:solidFill>
                <a:latin typeface="Segoe UI"/>
              </a:rPr>
              <a:t>ARESTAS (E)</a:t>
            </a:r>
          </a:p>
        </p:txBody>
      </p:sp>
      <p:sp>
        <p:nvSpPr>
          <p:cNvPr id="55070" name="Texto"/>
          <p:cNvSpPr/>
          <p:nvPr/>
        </p:nvSpPr>
        <p:spPr>
          <a:xfrm>
            <a:off x="4600000" y="2450000"/>
            <a:ext cx="3000000" cy="35000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r>
              <a:rPr lang="pt-BR" sz="1400" b="0">
                <a:solidFill>
                  <a:srgbClr val="FFFFFF"/>
                </a:solidFill>
                <a:latin typeface="Segoe UI"/>
              </a:rPr>
              <a:t>• Ligações entre pares de vértices.</a:t>
            </a:r>
          </a:p>
          <a:p>
            <a:r>
              <a:rPr lang="pt-BR" sz="1400" b="0">
                <a:solidFill>
                  <a:srgbClr val="FFFFFF"/>
                </a:solidFill>
                <a:latin typeface="Segoe UI"/>
              </a:rPr>
              <a:t/>
            </a:r>
          </a:p>
          <a:p>
            <a:r>
              <a:rPr lang="pt-BR" sz="1400" b="0">
                <a:solidFill>
                  <a:srgbClr val="FFFFFF"/>
                </a:solidFill>
                <a:latin typeface="Segoe UI"/>
              </a:rPr>
              <a:t>• No GraphQuest, cada Aresta representa um Corredor transitável.</a:t>
            </a:r>
          </a:p>
          <a:p>
            <a:r>
              <a:rPr lang="pt-BR" sz="1400" b="0">
                <a:solidFill>
                  <a:srgbClr val="FFFFFF"/>
                </a:solidFill>
                <a:latin typeface="Segoe UI"/>
              </a:rPr>
              <a:t/>
            </a:r>
          </a:p>
          <a:p>
            <a:r>
              <a:rPr lang="pt-BR" sz="1400" b="0">
                <a:solidFill>
                  <a:srgbClr val="FFFFFF"/>
                </a:solidFill>
                <a:latin typeface="Segoe UI"/>
              </a:rPr>
              <a:t>• Grafo Não-Direcionado: o corredor permite tráfego bidirecional (ida e volta livre entre salas vizinhas).</a:t>
            </a:r>
          </a:p>
        </p:txBody>
      </p:sp>
      <p:sp>
        <p:nvSpPr>
          <p:cNvPr id="6168" name="Card"/>
          <p:cNvSpPr/>
          <p:nvPr/>
        </p:nvSpPr>
        <p:spPr>
          <a:xfrm>
            <a:off x="8050000" y="1800000"/>
            <a:ext cx="3350000" cy="44000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</p:sp>
      <p:sp>
        <p:nvSpPr>
          <p:cNvPr id="42724" name="Texto"/>
          <p:cNvSpPr/>
          <p:nvPr/>
        </p:nvSpPr>
        <p:spPr>
          <a:xfrm>
            <a:off x="8250000" y="2000000"/>
            <a:ext cx="3000000" cy="3500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r>
              <a:rPr lang="pt-BR" sz="1800" b="1">
                <a:solidFill>
                  <a:srgbClr val="10B981"/>
                </a:solidFill>
                <a:latin typeface="Segoe UI"/>
              </a:rPr>
              <a:t>PESOS E CAMINHOS</a:t>
            </a:r>
          </a:p>
        </p:txBody>
      </p:sp>
      <p:sp>
        <p:nvSpPr>
          <p:cNvPr id="14847" name="Texto"/>
          <p:cNvSpPr/>
          <p:nvPr/>
        </p:nvSpPr>
        <p:spPr>
          <a:xfrm>
            <a:off x="8250000" y="2450000"/>
            <a:ext cx="3000000" cy="35000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r>
              <a:rPr lang="pt-BR" sz="1400" b="0">
                <a:solidFill>
                  <a:srgbClr val="FFFFFF"/>
                </a:solidFill>
                <a:latin typeface="Segoe UI"/>
              </a:rPr>
              <a:t>• Corredores podem ter pesos positivos diferentes.</a:t>
            </a:r>
          </a:p>
          <a:p>
            <a:r>
              <a:rPr lang="pt-BR" sz="1400" b="0">
                <a:solidFill>
                  <a:srgbClr val="FFFFFF"/>
                </a:solidFill>
                <a:latin typeface="Segoe UI"/>
              </a:rPr>
              <a:t/>
            </a:r>
          </a:p>
          <a:p>
            <a:r>
              <a:rPr lang="pt-BR" sz="1400" b="0">
                <a:solidFill>
                  <a:srgbClr val="FFFFFF"/>
                </a:solidFill>
                <a:latin typeface="Segoe UI"/>
              </a:rPr>
              <a:t>• BFS minimiza a quantidade de arestas; Dijkstra minimiza a soma dos pesos.</a:t>
            </a:r>
          </a:p>
          <a:p>
            <a:r>
              <a:rPr lang="pt-BR" sz="1400" b="0">
                <a:solidFill>
                  <a:srgbClr val="FFFFFF"/>
                </a:solidFill>
                <a:latin typeface="Segoe UI"/>
              </a:rPr>
              <a:t/>
            </a:r>
          </a:p>
          <a:p>
            <a:r>
              <a:rPr lang="pt-BR" sz="1400" b="0">
                <a:solidFill>
                  <a:srgbClr val="FFFFFF"/>
                </a:solidFill>
                <a:latin typeface="Segoe UI"/>
              </a:rPr>
              <a:t>• Um trajeto pode ter menos passagens e ainda custar mais que uma rota alternativa.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ndo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017"/>
          </a:solidFill>
        </p:spPr>
      </p:sp>
      <p:sp>
        <p:nvSpPr>
          <p:cNvPr id="10" name="BarraDecor"/>
          <p:cNvSpPr/>
          <p:nvPr/>
        </p:nvSpPr>
        <p:spPr>
          <a:xfrm>
            <a:off x="762000" y="450000"/>
            <a:ext cx="10668000" cy="3000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43674" name="Texto"/>
          <p:cNvSpPr/>
          <p:nvPr/>
        </p:nvSpPr>
        <p:spPr>
          <a:xfrm>
            <a:off x="762000" y="550000"/>
            <a:ext cx="10668000" cy="5500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r>
              <a:rPr lang="pt-BR" sz="2600" b="1">
                <a:solidFill>
                  <a:srgbClr val="F59E0B"/>
                </a:solidFill>
                <a:latin typeface="Segoe UI"/>
              </a:rPr>
              <a:t>03. REPRESENTAÇÃO DO MAPA COMO GRAFO</a:t>
            </a:r>
          </a:p>
        </p:txBody>
      </p:sp>
      <p:sp>
        <p:nvSpPr>
          <p:cNvPr id="66704" name="Texto"/>
          <p:cNvSpPr/>
          <p:nvPr/>
        </p:nvSpPr>
        <p:spPr>
          <a:xfrm>
            <a:off x="762000" y="1100000"/>
            <a:ext cx="10668000" cy="4000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r>
              <a:rPr lang="pt-BR" sz="1500" b="0">
                <a:solidFill>
                  <a:srgbClr val="9CA3AF"/>
                </a:solidFill>
                <a:latin typeface="Segoe UI"/>
              </a:rPr>
              <a:t>Cada fase mantém 13 vértices e 19 arestas; três mapas formam a campanha</a:t>
            </a:r>
          </a:p>
        </p:txBody>
      </p:sp>
      <p:sp>
        <p:nvSpPr>
          <p:cNvPr id="26752" name="Card"/>
          <p:cNvSpPr/>
          <p:nvPr/>
        </p:nvSpPr>
        <p:spPr>
          <a:xfrm>
            <a:off x="762000" y="1800000"/>
            <a:ext cx="4600000" cy="44000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</p:sp>
      <p:sp>
        <p:nvSpPr>
          <p:cNvPr id="26456" name="Texto"/>
          <p:cNvSpPr/>
          <p:nvPr/>
        </p:nvSpPr>
        <p:spPr>
          <a:xfrm>
            <a:off x="950000" y="2000000"/>
            <a:ext cx="4200000" cy="3500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r>
              <a:rPr lang="pt-BR" sz="1800" b="1">
                <a:solidFill>
                  <a:srgbClr val="F59E0B"/>
                </a:solidFill>
                <a:latin typeface="Segoe UI"/>
              </a:rPr>
              <a:t>ELEMENTOS DO MAPA</a:t>
            </a:r>
          </a:p>
        </p:txBody>
      </p:sp>
      <p:sp>
        <p:nvSpPr>
          <p:cNvPr id="63851" name="Texto"/>
          <p:cNvSpPr/>
          <p:nvPr/>
        </p:nvSpPr>
        <p:spPr>
          <a:xfrm>
            <a:off x="950000" y="2450000"/>
            <a:ext cx="4200000" cy="35000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r>
              <a:rPr lang="pt-BR" sz="1300" b="0">
                <a:solidFill>
                  <a:srgbClr val="FFFFFF"/>
                </a:solidFill>
                <a:latin typeface="Segoe UI"/>
              </a:rPr>
              <a:t>• Sala Inicial (Entrada): Ponto de partida seguro.</a:t>
            </a:r>
          </a:p>
          <a:p>
            <a:r>
              <a:rPr lang="pt-BR"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r>
              <a:rPr lang="pt-BR" sz="1300" b="0">
                <a:solidFill>
                  <a:srgbClr val="FFFFFF"/>
                </a:solidFill>
                <a:latin typeface="Segoe UI"/>
              </a:rPr>
              <a:t>• Salas Comuns: Corredores de transição.</a:t>
            </a:r>
          </a:p>
          <a:p>
            <a:r>
              <a:rPr lang="pt-BR"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r>
              <a:rPr lang="pt-BR" sz="1300" b="0">
                <a:solidFill>
                  <a:srgbClr val="FFFFFF"/>
                </a:solidFill>
                <a:latin typeface="Segoe UI"/>
              </a:rPr>
              <a:t>• Salas de Tesouro: Baús com pontuação (+100, +200, +300 pts) coletáveis uma única vez.</a:t>
            </a:r>
          </a:p>
          <a:p>
            <a:r>
              <a:rPr lang="pt-BR"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r>
              <a:rPr lang="pt-BR" sz="1300" b="0">
                <a:solidFill>
                  <a:srgbClr val="FFFFFF"/>
                </a:solidFill>
                <a:latin typeface="Segoe UI"/>
              </a:rPr>
              <a:t>• Salas Especiais: Santuário concede a Bênção do Cristal; Biblioteca concede a Chave Mística.</a:t>
            </a:r>
          </a:p>
          <a:p>
            <a:r>
              <a:rPr lang="pt-BR"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r>
              <a:rPr lang="pt-BR" sz="1300" b="0">
                <a:solidFill>
                  <a:srgbClr val="FFFFFF"/>
                </a:solidFill>
                <a:latin typeface="Segoe UI"/>
              </a:rPr>
              <a:t>• Obstáculos (Salas Bloqueadas):</a:t>
            </a:r>
          </a:p>
          <a:p>
            <a:r>
              <a:rPr lang="pt-BR" sz="1300" b="0">
                <a:solidFill>
                  <a:srgbClr val="FFFFFF"/>
                </a:solidFill>
                <a:latin typeface="Segoe UI"/>
              </a:rPr>
              <a:t>  - Desmoronamento permanente (Sala 6).</a:t>
            </a:r>
          </a:p>
          <a:p>
            <a:r>
              <a:rPr lang="pt-BR" sz="1300" b="0">
                <a:solidFill>
                  <a:srgbClr val="FFFFFF"/>
                </a:solidFill>
                <a:latin typeface="Segoe UI"/>
              </a:rPr>
              <a:t>  - Portão destrancável com chave (Sala 10).</a:t>
            </a:r>
          </a:p>
          <a:p>
            <a:r>
              <a:rPr lang="pt-BR"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r>
              <a:rPr lang="pt-BR" sz="1300" b="0">
                <a:solidFill>
                  <a:srgbClr val="FFFFFF"/>
                </a:solidFill>
                <a:latin typeface="Segoe UI"/>
              </a:rPr>
              <a:t>• Missões reais: Santuário (+75), portão (+60) e baús (+100).</a:t>
            </a:r>
          </a:p>
          <a:p>
            <a:r>
              <a:rPr lang="pt-BR"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r>
              <a:rPr lang="pt-BR" sz="1300" b="0">
                <a:solidFill>
                  <a:srgbClr val="FFFFFF"/>
                </a:solidFill>
                <a:latin typeface="Segoe UI"/>
              </a:rPr>
              <a:t>• Portal da Sala 13 avança a fase; na etapa final, é preciso derrotar o chefe.</a:t>
            </a:r>
          </a:p>
        </p:txBody>
      </p:sp>
      <p:pic>
        <p:nvPicPr>
          <p:cNvPr id="38607" name="Screenshot"/>
          <p:cNvPicPr>
            <a:picLocks noChangeAspect="1"/>
          </p:cNvPicPr>
          <p:nvPr/>
        </p:nvPicPr>
        <p:blipFill>
          <a:blip r:embed="rIdPic"/>
          <a:stretch>
            <a:fillRect/>
          </a:stretch>
        </p:blipFill>
        <p:spPr>
          <a:xfrm>
            <a:off x="5600000" y="1800000"/>
            <a:ext cx="5800000" cy="4400000"/>
          </a:xfrm>
          <a:prstGeom prst="rect">
            <a:avLst/>
          </a:prstGeom>
          <a:ln w="19050">
            <a:solidFill>
              <a:srgbClr val="30363D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ndo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017"/>
          </a:solidFill>
        </p:spPr>
      </p:sp>
      <p:sp>
        <p:nvSpPr>
          <p:cNvPr id="10" name="BarraDecor"/>
          <p:cNvSpPr/>
          <p:nvPr/>
        </p:nvSpPr>
        <p:spPr>
          <a:xfrm>
            <a:off x="762000" y="450000"/>
            <a:ext cx="10668000" cy="3000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79289" name="Texto"/>
          <p:cNvSpPr/>
          <p:nvPr/>
        </p:nvSpPr>
        <p:spPr>
          <a:xfrm>
            <a:off x="762000" y="550000"/>
            <a:ext cx="10668000" cy="5500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r>
              <a:rPr lang="pt-BR" sz="2600" b="1">
                <a:solidFill>
                  <a:srgbClr val="F59E0B"/>
                </a:solidFill>
                <a:latin typeface="Segoe UI"/>
              </a:rPr>
              <a:t>04. TECNOLOGIAS E ARQUITETURA DO SOFTWARE</a:t>
            </a:r>
          </a:p>
        </p:txBody>
      </p:sp>
      <p:sp>
        <p:nvSpPr>
          <p:cNvPr id="11007" name="Texto"/>
          <p:cNvSpPr/>
          <p:nvPr/>
        </p:nvSpPr>
        <p:spPr>
          <a:xfrm>
            <a:off x="762000" y="1100000"/>
            <a:ext cx="10668000" cy="4000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r>
              <a:rPr lang="pt-BR" sz="1500" b="0">
                <a:solidFill>
                  <a:srgbClr val="9CA3AF"/>
                </a:solidFill>
                <a:latin typeface="Segoe UI"/>
              </a:rPr>
              <a:t>Desenvolvimento modular, desacoplado e em conformidade estrita com o enunciado</a:t>
            </a:r>
          </a:p>
        </p:txBody>
      </p:sp>
      <p:sp>
        <p:nvSpPr>
          <p:cNvPr id="38599" name="Card"/>
          <p:cNvSpPr/>
          <p:nvPr/>
        </p:nvSpPr>
        <p:spPr>
          <a:xfrm>
            <a:off x="762000" y="1800000"/>
            <a:ext cx="5000000" cy="44000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</p:sp>
      <p:sp>
        <p:nvSpPr>
          <p:cNvPr id="70967" name="Texto"/>
          <p:cNvSpPr/>
          <p:nvPr/>
        </p:nvSpPr>
        <p:spPr>
          <a:xfrm>
            <a:off x="1000000" y="2000000"/>
            <a:ext cx="4500000" cy="3500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r>
              <a:rPr lang="pt-BR" sz="1800" b="1">
                <a:solidFill>
                  <a:srgbClr val="F59E0B"/>
                </a:solidFill>
                <a:latin typeface="Segoe UI"/>
              </a:rPr>
              <a:t>TECNOLOGIAS ESCOLHIDAS</a:t>
            </a:r>
          </a:p>
        </p:txBody>
      </p:sp>
      <p:sp>
        <p:nvSpPr>
          <p:cNvPr id="71961" name="Texto"/>
          <p:cNvSpPr/>
          <p:nvPr/>
        </p:nvSpPr>
        <p:spPr>
          <a:xfrm>
            <a:off x="1000000" y="2450000"/>
            <a:ext cx="4500000" cy="35000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r>
              <a:rPr lang="pt-BR" sz="1400" b="0">
                <a:solidFill>
                  <a:srgbClr val="FFFFFF"/>
                </a:solidFill>
                <a:latin typeface="Segoe UI"/>
              </a:rPr>
              <a:t>• Java 17+ LTS: Recursos nativos da linguagem sem frameworks pesados.</a:t>
            </a:r>
          </a:p>
          <a:p>
            <a:r>
              <a:rPr lang="pt-BR" sz="1400" b="0">
                <a:solidFill>
                  <a:srgbClr val="FFFFFF"/>
                </a:solidFill>
                <a:latin typeface="Segoe UI"/>
              </a:rPr>
              <a:t/>
            </a:r>
          </a:p>
          <a:p>
            <a:r>
              <a:rPr lang="pt-BR" sz="1400" b="0">
                <a:solidFill>
                  <a:srgbClr val="FFFFFF"/>
                </a:solidFill>
                <a:latin typeface="Segoe UI"/>
              </a:rPr>
              <a:t>• Java Swing: Interface gráfica desktop responsiva e de execução autônoma.</a:t>
            </a:r>
          </a:p>
          <a:p>
            <a:r>
              <a:rPr lang="pt-BR" sz="1400" b="0">
                <a:solidFill>
                  <a:srgbClr val="FFFFFF"/>
                </a:solidFill>
                <a:latin typeface="Segoe UI"/>
              </a:rPr>
              <a:t/>
            </a:r>
          </a:p>
          <a:p>
            <a:r>
              <a:rPr lang="pt-BR" sz="1400" b="0">
                <a:solidFill>
                  <a:srgbClr val="FFFFFF"/>
                </a:solidFill>
                <a:latin typeface="Segoe UI"/>
              </a:rPr>
              <a:t>• Java2D (Graphics2D): Renderização vetorial com antialiasing, gradientes e animações de pulso.</a:t>
            </a:r>
          </a:p>
          <a:p>
            <a:r>
              <a:rPr lang="pt-BR" sz="1400" b="0">
                <a:solidFill>
                  <a:srgbClr val="FFFFFF"/>
                </a:solidFill>
                <a:latin typeface="Segoe UI"/>
              </a:rPr>
              <a:t/>
            </a:r>
          </a:p>
          <a:p>
            <a:r>
              <a:rPr lang="pt-BR" sz="1400" b="0">
                <a:solidFill>
                  <a:srgbClr val="FFFFFF"/>
                </a:solidFill>
                <a:latin typeface="Segoe UI"/>
              </a:rPr>
              <a:t>• Zero Bibliotecas Externas no Core: grafo, BFS e Dijkstra usam Java padrão.</a:t>
            </a:r>
          </a:p>
          <a:p>
            <a:r>
              <a:rPr lang="pt-BR" sz="1400" b="0">
                <a:solidFill>
                  <a:srgbClr val="FFFFFF"/>
                </a:solidFill>
                <a:latin typeface="Segoe UI"/>
              </a:rPr>
              <a:t/>
            </a:r>
          </a:p>
          <a:p>
            <a:r>
              <a:rPr lang="pt-BR" sz="1400" b="0">
                <a:solidFill>
                  <a:srgbClr val="FFFFFF"/>
                </a:solidFill>
                <a:latin typeface="Segoe UI"/>
              </a:rPr>
              <a:t>• Maven + Scripts .bat: Facilidade total para compilar e rodar no IntelliJ ou Windows.</a:t>
            </a:r>
          </a:p>
        </p:txBody>
      </p:sp>
      <p:sp>
        <p:nvSpPr>
          <p:cNvPr id="77504" name="Card"/>
          <p:cNvSpPr/>
          <p:nvPr/>
        </p:nvSpPr>
        <p:spPr>
          <a:xfrm>
            <a:off x="6400000" y="1800000"/>
            <a:ext cx="5000000" cy="44000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</p:sp>
      <p:sp>
        <p:nvSpPr>
          <p:cNvPr id="13587" name="Texto"/>
          <p:cNvSpPr/>
          <p:nvPr/>
        </p:nvSpPr>
        <p:spPr>
          <a:xfrm>
            <a:off x="6650000" y="2000000"/>
            <a:ext cx="4500000" cy="3500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r>
              <a:rPr lang="pt-BR" sz="1800" b="1">
                <a:solidFill>
                  <a:srgbClr val="10B981"/>
                </a:solidFill>
                <a:latin typeface="Segoe UI"/>
              </a:rPr>
              <a:t>ORGANIZAÇÃO EM PACOTES</a:t>
            </a:r>
          </a:p>
        </p:txBody>
      </p:sp>
      <p:sp>
        <p:nvSpPr>
          <p:cNvPr id="68214" name="Texto"/>
          <p:cNvSpPr/>
          <p:nvPr/>
        </p:nvSpPr>
        <p:spPr>
          <a:xfrm>
            <a:off x="6650000" y="2450000"/>
            <a:ext cx="4500000" cy="35000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r>
              <a:rPr lang="pt-BR" sz="1300" b="0">
                <a:solidFill>
                  <a:srgbClr val="FFFFFF"/>
                </a:solidFill>
                <a:latin typeface="Segoe UI"/>
              </a:rPr>
              <a:t>• br.com.graphquest.modelo:</a:t>
            </a:r>
          </a:p>
          <a:p>
            <a:r>
              <a:rPr lang="pt-BR" sz="1300" b="0">
                <a:solidFill>
                  <a:srgbClr val="FFFFFF"/>
                </a:solidFill>
                <a:latin typeface="Segoe UI"/>
              </a:rPr>
              <a:t>  - Sala.java (Vértice do grafo)</a:t>
            </a:r>
          </a:p>
          <a:p>
            <a:r>
              <a:rPr lang="pt-BR" sz="1300" b="0">
                <a:solidFill>
                  <a:srgbClr val="FFFFFF"/>
                </a:solidFill>
                <a:latin typeface="Segoe UI"/>
              </a:rPr>
              <a:t>  - TipoSala.java (Enumeração e identidade visual)</a:t>
            </a:r>
          </a:p>
          <a:p>
            <a:r>
              <a:rPr lang="pt-BR"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r>
              <a:rPr lang="pt-BR" sz="1300" b="0">
                <a:solidFill>
                  <a:srgbClr val="FFFFFF"/>
                </a:solidFill>
                <a:latin typeface="Segoe UI"/>
              </a:rPr>
              <a:t>• br.com.graphquest.grafo:</a:t>
            </a:r>
          </a:p>
          <a:p>
            <a:r>
              <a:rPr lang="pt-BR" sz="1300" b="0">
                <a:solidFill>
                  <a:srgbClr val="FFFFFF"/>
                </a:solidFill>
                <a:latin typeface="Segoe UI"/>
              </a:rPr>
              <a:t>  - Grafo.java (Lista, BFS e Dijkstra)</a:t>
            </a:r>
          </a:p>
          <a:p>
            <a:r>
              <a:rPr lang="pt-BR" sz="1300" b="0">
                <a:solidFill>
                  <a:srgbClr val="FFFFFF"/>
                </a:solidFill>
                <a:latin typeface="Segoe UI"/>
              </a:rPr>
              <a:t>  - ResultadoBFS / ResultadoDijkstra</a:t>
            </a:r>
          </a:p>
          <a:p>
            <a:r>
              <a:rPr lang="pt-BR"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r>
              <a:rPr lang="pt-BR" sz="1300" b="0">
                <a:solidFill>
                  <a:srgbClr val="FFFFFF"/>
                </a:solidFill>
                <a:latin typeface="Segoe UI"/>
              </a:rPr>
              <a:t>• br.com.graphquest.jogo:</a:t>
            </a:r>
          </a:p>
          <a:p>
            <a:r>
              <a:rPr lang="pt-BR" sz="1300" b="0">
                <a:solidFill>
                  <a:srgbClr val="FFFFFF"/>
                </a:solidFill>
                <a:latin typeface="Segoe UI"/>
              </a:rPr>
              <a:t>  - Jogo.java (Fases, combate e inventário)</a:t>
            </a:r>
          </a:p>
          <a:p>
            <a:r>
              <a:rPr lang="pt-BR" sz="1300" b="0">
                <a:solidFill>
                  <a:srgbClr val="FFFFFF"/>
                </a:solidFill>
                <a:latin typeface="Segoe UI"/>
              </a:rPr>
              <a:t>  - Inimigo.java (Estado dos guardiões e chefe)</a:t>
            </a:r>
          </a:p>
          <a:p>
            <a:r>
              <a:rPr lang="pt-BR" sz="1300" b="0">
                <a:solidFill>
                  <a:srgbClr val="FFFFFF"/>
                </a:solidFill>
                <a:latin typeface="Segoe UI"/>
              </a:rPr>
              <a:t>  - MasmorraPadrao.java (Topologia do grafo)</a:t>
            </a:r>
          </a:p>
          <a:p>
            <a:r>
              <a:rPr lang="pt-BR"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r>
              <a:rPr lang="pt-BR" sz="1300" b="0">
                <a:solidFill>
                  <a:srgbClr val="FFFFFF"/>
                </a:solidFill>
                <a:latin typeface="Segoe UI"/>
              </a:rPr>
              <a:t>• br.com.graphquest.ui:</a:t>
            </a:r>
          </a:p>
          <a:p>
            <a:r>
              <a:rPr lang="pt-BR" sz="1300" b="0">
                <a:solidFill>
                  <a:srgbClr val="FFFFFF"/>
                </a:solidFill>
                <a:latin typeface="Segoe UI"/>
              </a:rPr>
              <a:t>  - PainelMapa.java, PainelInformacoes.java, etc.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ndo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017"/>
          </a:solidFill>
        </p:spPr>
      </p:sp>
      <p:sp>
        <p:nvSpPr>
          <p:cNvPr id="10" name="BarraDecor"/>
          <p:cNvSpPr/>
          <p:nvPr/>
        </p:nvSpPr>
        <p:spPr>
          <a:xfrm>
            <a:off x="762000" y="450000"/>
            <a:ext cx="10668000" cy="3000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44273" name="Texto"/>
          <p:cNvSpPr/>
          <p:nvPr/>
        </p:nvSpPr>
        <p:spPr>
          <a:xfrm>
            <a:off x="762000" y="550000"/>
            <a:ext cx="10668000" cy="5500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r>
              <a:rPr lang="pt-BR" sz="2600" b="1">
                <a:solidFill>
                  <a:srgbClr val="F59E0B"/>
                </a:solidFill>
                <a:latin typeface="Segoe UI"/>
              </a:rPr>
              <a:t>05. ESTRUTURA DE DADOS: LISTA DE ADJACÊNCIA</a:t>
            </a:r>
          </a:p>
        </p:txBody>
      </p:sp>
      <p:sp>
        <p:nvSpPr>
          <p:cNvPr id="29570" name="Texto"/>
          <p:cNvSpPr/>
          <p:nvPr/>
        </p:nvSpPr>
        <p:spPr>
          <a:xfrm>
            <a:off x="762000" y="1100000"/>
            <a:ext cx="10668000" cy="4000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r>
              <a:rPr lang="pt-BR" sz="1500" b="0">
                <a:solidFill>
                  <a:srgbClr val="9CA3AF"/>
                </a:solidFill>
                <a:latin typeface="Segoe UI"/>
              </a:rPr>
              <a:t>Implementação eficiente em memória e performance de consulta</a:t>
            </a:r>
          </a:p>
        </p:txBody>
      </p:sp>
      <p:sp>
        <p:nvSpPr>
          <p:cNvPr id="74073" name="Card"/>
          <p:cNvSpPr/>
          <p:nvPr/>
        </p:nvSpPr>
        <p:spPr>
          <a:xfrm>
            <a:off x="762000" y="1800000"/>
            <a:ext cx="5000000" cy="44000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</p:sp>
      <p:sp>
        <p:nvSpPr>
          <p:cNvPr id="17384" name="Texto"/>
          <p:cNvSpPr/>
          <p:nvPr/>
        </p:nvSpPr>
        <p:spPr>
          <a:xfrm>
            <a:off x="1000000" y="2000000"/>
            <a:ext cx="4500000" cy="3500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r>
              <a:rPr lang="pt-BR" sz="1800" b="1">
                <a:solidFill>
                  <a:srgbClr val="F59E0B"/>
                </a:solidFill>
                <a:latin typeface="Segoe UI"/>
              </a:rPr>
              <a:t>REPRESENTAÇÃO NO CÓDIGO</a:t>
            </a:r>
          </a:p>
        </p:txBody>
      </p:sp>
      <p:sp>
        <p:nvSpPr>
          <p:cNvPr id="48932" name="Texto"/>
          <p:cNvSpPr/>
          <p:nvPr/>
        </p:nvSpPr>
        <p:spPr>
          <a:xfrm>
            <a:off x="1000000" y="2450000"/>
            <a:ext cx="4500000" cy="35000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r>
              <a:rPr lang="pt-BR" sz="1400" b="0">
                <a:solidFill>
                  <a:srgbClr val="FFFFFF"/>
                </a:solidFill>
                <a:latin typeface="Segoe UI"/>
              </a:rPr>
              <a:t>No Grafo.java, a estrutura foi implementada como:</a:t>
            </a:r>
          </a:p>
          <a:p>
            <a:r>
              <a:rPr lang="pt-BR" sz="1400" b="0">
                <a:solidFill>
                  <a:srgbClr val="FFFFFF"/>
                </a:solidFill>
                <a:latin typeface="Segoe UI"/>
              </a:rPr>
              <a:t/>
            </a:r>
          </a:p>
          <a:p>
            <a:r>
              <a:rPr lang="pt-BR" sz="1400" b="0">
                <a:solidFill>
                  <a:srgbClr val="FFFFFF"/>
                </a:solidFill>
                <a:latin typeface="Segoe UI"/>
              </a:rPr>
              <a:t>    Map&lt;Sala, List&lt;Sala&gt;&gt; listaAdjacencia;</a:t>
            </a:r>
          </a:p>
          <a:p>
            <a:r>
              <a:rPr lang="pt-BR" sz="1400" b="0">
                <a:solidFill>
                  <a:srgbClr val="FFFFFF"/>
                </a:solidFill>
                <a:latin typeface="Segoe UI"/>
              </a:rPr>
              <a:t/>
            </a:r>
          </a:p>
          <a:p>
            <a:r>
              <a:rPr lang="pt-BR" sz="1400" b="0">
                <a:solidFill>
                  <a:srgbClr val="FFFFFF"/>
                </a:solidFill>
                <a:latin typeface="Segoe UI"/>
              </a:rPr>
              <a:t>• Cada chave do Map representa um Vértice Sala.</a:t>
            </a:r>
          </a:p>
          <a:p>
            <a:r>
              <a:rPr lang="pt-BR" sz="1400" b="0">
                <a:solidFill>
                  <a:srgbClr val="FFFFFF"/>
                </a:solidFill>
                <a:latin typeface="Segoe UI"/>
              </a:rPr>
              <a:t/>
            </a:r>
          </a:p>
          <a:p>
            <a:r>
              <a:rPr lang="pt-BR" sz="1400" b="0">
                <a:solidFill>
                  <a:srgbClr val="FFFFFF"/>
                </a:solidFill>
                <a:latin typeface="Segoe UI"/>
              </a:rPr>
              <a:t>• Cada valor é uma List&lt;Sala&gt; contendo todos os vizinhos conectados por arestas diretas.</a:t>
            </a:r>
          </a:p>
          <a:p>
            <a:r>
              <a:rPr lang="pt-BR" sz="1400" b="0">
                <a:solidFill>
                  <a:srgbClr val="FFFFFF"/>
                </a:solidFill>
                <a:latin typeface="Segoe UI"/>
              </a:rPr>
              <a:t/>
            </a:r>
          </a:p>
          <a:p>
            <a:r>
              <a:rPr lang="pt-BR" sz="1400" b="0">
                <a:solidFill>
                  <a:srgbClr val="FFFFFF"/>
                </a:solidFill>
                <a:latin typeface="Segoe UI"/>
              </a:rPr>
              <a:t>• Inserção de aresta bidirecional:</a:t>
            </a:r>
          </a:p>
          <a:p>
            <a:r>
              <a:rPr lang="pt-BR" sz="1400" b="0">
                <a:solidFill>
                  <a:srgbClr val="FFFFFF"/>
                </a:solidFill>
                <a:latin typeface="Segoe UI"/>
              </a:rPr>
              <a:t>  adicionarAresta(u, v) adiciona v na lista de u E adiciona u na lista de v.</a:t>
            </a:r>
          </a:p>
        </p:txBody>
      </p:sp>
      <p:sp>
        <p:nvSpPr>
          <p:cNvPr id="63144" name="Card"/>
          <p:cNvSpPr/>
          <p:nvPr/>
        </p:nvSpPr>
        <p:spPr>
          <a:xfrm>
            <a:off x="6400000" y="1800000"/>
            <a:ext cx="5000000" cy="44000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</p:sp>
      <p:sp>
        <p:nvSpPr>
          <p:cNvPr id="21810" name="Texto"/>
          <p:cNvSpPr/>
          <p:nvPr/>
        </p:nvSpPr>
        <p:spPr>
          <a:xfrm>
            <a:off x="6650000" y="2000000"/>
            <a:ext cx="4500000" cy="3500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r>
              <a:rPr lang="pt-BR" sz="1800" b="1">
                <a:solidFill>
                  <a:srgbClr val="3B82F6"/>
                </a:solidFill>
                <a:latin typeface="Segoe UI"/>
              </a:rPr>
              <a:t>VANTAGENS SOBRE MATRIZ</a:t>
            </a:r>
          </a:p>
        </p:txBody>
      </p:sp>
      <p:sp>
        <p:nvSpPr>
          <p:cNvPr id="64681" name="Texto"/>
          <p:cNvSpPr/>
          <p:nvPr/>
        </p:nvSpPr>
        <p:spPr>
          <a:xfrm>
            <a:off x="6650000" y="2450000"/>
            <a:ext cx="4500000" cy="35000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r>
              <a:rPr lang="pt-BR" sz="1400" b="0">
                <a:solidFill>
                  <a:srgbClr val="FFFFFF"/>
                </a:solidFill>
                <a:latin typeface="Segoe UI"/>
              </a:rPr>
              <a:t>1. Economia de Memória (Grafos Esparsos):</a:t>
            </a:r>
          </a:p>
          <a:p>
            <a:r>
              <a:rPr lang="pt-BR" sz="1400" b="0">
                <a:solidFill>
                  <a:srgbClr val="FFFFFF"/>
                </a:solidFill>
                <a:latin typeface="Segoe UI"/>
              </a:rPr>
              <a:t>   - Uma matriz V x V gastaria O(V²), com 90% dos slots vazios.</a:t>
            </a:r>
          </a:p>
          <a:p>
            <a:r>
              <a:rPr lang="pt-BR" sz="1400" b="0">
                <a:solidFill>
                  <a:srgbClr val="FFFFFF"/>
                </a:solidFill>
                <a:latin typeface="Segoe UI"/>
              </a:rPr>
              <a:t>   - A lista de adjacência consome estritamente O(V + E) espaço.</a:t>
            </a:r>
          </a:p>
          <a:p>
            <a:r>
              <a:rPr lang="pt-BR" sz="1400" b="0">
                <a:solidFill>
                  <a:srgbClr val="FFFFFF"/>
                </a:solidFill>
                <a:latin typeface="Segoe UI"/>
              </a:rPr>
              <a:t/>
            </a:r>
          </a:p>
          <a:p>
            <a:r>
              <a:rPr lang="pt-BR" sz="1400" b="0">
                <a:solidFill>
                  <a:srgbClr val="FFFFFF"/>
                </a:solidFill>
                <a:latin typeface="Segoe UI"/>
              </a:rPr>
              <a:t>2. Iteração Rápida sobre Vizinhos:</a:t>
            </a:r>
          </a:p>
          <a:p>
            <a:r>
              <a:rPr lang="pt-BR" sz="1400" b="0">
                <a:solidFill>
                  <a:srgbClr val="FFFFFF"/>
                </a:solidFill>
                <a:latin typeface="Segoe UI"/>
              </a:rPr>
              <a:t>   - Para listar movimentos possíveis do jogador, consulta-se apenas a lista de vizinhos: O(grau).</a:t>
            </a:r>
          </a:p>
          <a:p>
            <a:r>
              <a:rPr lang="pt-BR" sz="1400" b="0">
                <a:solidFill>
                  <a:srgbClr val="FFFFFF"/>
                </a:solidFill>
                <a:latin typeface="Segoe UI"/>
              </a:rPr>
              <a:t>   - Não é necessário varrer todos os outros nós do sistema.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ndo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017"/>
          </a:solidFill>
        </p:spPr>
      </p:sp>
      <p:sp>
        <p:nvSpPr>
          <p:cNvPr id="10" name="BarraDecor"/>
          <p:cNvSpPr/>
          <p:nvPr/>
        </p:nvSpPr>
        <p:spPr>
          <a:xfrm>
            <a:off x="762000" y="450000"/>
            <a:ext cx="10668000" cy="3000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3070" name="Texto"/>
          <p:cNvSpPr/>
          <p:nvPr/>
        </p:nvSpPr>
        <p:spPr>
          <a:xfrm>
            <a:off x="762000" y="550000"/>
            <a:ext cx="10668000" cy="5500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r>
              <a:rPr lang="pt-BR" sz="2600" b="1">
                <a:solidFill>
                  <a:srgbClr val="F59E0B"/>
                </a:solidFill>
                <a:latin typeface="Segoe UI"/>
              </a:rPr>
              <a:t>06. DEMONSTRAÇÃO INTERATIVA DA BFS</a:t>
            </a:r>
          </a:p>
        </p:txBody>
      </p:sp>
      <p:sp>
        <p:nvSpPr>
          <p:cNvPr id="68083" name="Texto"/>
          <p:cNvSpPr/>
          <p:nvPr/>
        </p:nvSpPr>
        <p:spPr>
          <a:xfrm>
            <a:off x="762000" y="1100000"/>
            <a:ext cx="10668000" cy="4000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r>
              <a:rPr lang="pt-BR" sz="1500" b="0">
                <a:solidFill>
                  <a:srgbClr val="9CA3AF"/>
                </a:solidFill>
                <a:latin typeface="Segoe UI"/>
              </a:rPr>
              <a:t>Eventos reais da fila, descobertas e reconstrução do caminho</a:t>
            </a:r>
          </a:p>
        </p:txBody>
      </p:sp>
      <p:sp>
        <p:nvSpPr>
          <p:cNvPr id="80806" name="Card"/>
          <p:cNvSpPr/>
          <p:nvPr/>
        </p:nvSpPr>
        <p:spPr>
          <a:xfrm>
            <a:off x="762000" y="1800000"/>
            <a:ext cx="4600000" cy="44000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</p:sp>
      <p:sp>
        <p:nvSpPr>
          <p:cNvPr id="73157" name="Texto"/>
          <p:cNvSpPr/>
          <p:nvPr/>
        </p:nvSpPr>
        <p:spPr>
          <a:xfrm>
            <a:off x="950000" y="2000000"/>
            <a:ext cx="4200000" cy="3500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r>
              <a:rPr lang="pt-BR" sz="1800" b="1">
                <a:solidFill>
                  <a:srgbClr val="F59E0B"/>
                </a:solidFill>
                <a:latin typeface="Segoe UI"/>
              </a:rPr>
              <a:t>ESTRUTURAS FUNDAMENTAIS</a:t>
            </a:r>
          </a:p>
        </p:txBody>
      </p:sp>
      <p:sp>
        <p:nvSpPr>
          <p:cNvPr id="62695" name="Texto"/>
          <p:cNvSpPr/>
          <p:nvPr/>
        </p:nvSpPr>
        <p:spPr>
          <a:xfrm>
            <a:off x="950000" y="2450000"/>
            <a:ext cx="4200000" cy="35000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r>
              <a:rPr lang="pt-BR" sz="1300" b="0">
                <a:solidFill>
                  <a:srgbClr val="FFFFFF"/>
                </a:solidFill>
                <a:latin typeface="Segoe UI"/>
              </a:rPr>
              <a:t>A demonstração registra os eventos emitidos pelo laço real em Grafo.buscarMenorCaminho.</a:t>
            </a:r>
          </a:p>
          <a:p>
            <a:r>
              <a:rPr lang="pt-BR"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r>
              <a:rPr lang="pt-BR" sz="1300" b="0">
                <a:solidFill>
                  <a:srgbClr val="FFFFFF"/>
                </a:solidFill>
                <a:latin typeface="Segoe UI"/>
              </a:rPr>
              <a:t>Queue&lt;Sala&gt; fila = new ArrayDeque&lt;&gt;();</a:t>
            </a:r>
          </a:p>
          <a:p>
            <a:r>
              <a:rPr lang="pt-BR" sz="1300" b="0">
                <a:solidFill>
                  <a:srgbClr val="FFFFFF"/>
                </a:solidFill>
                <a:latin typeface="Segoe UI"/>
              </a:rPr>
              <a:t>Set&lt;Sala&gt; visitados = new LinkedHashSet&lt;&gt;();</a:t>
            </a:r>
          </a:p>
          <a:p>
            <a:r>
              <a:rPr lang="pt-BR" sz="1300" b="0">
                <a:solidFill>
                  <a:srgbClr val="FFFFFF"/>
                </a:solidFill>
                <a:latin typeface="Segoe UI"/>
              </a:rPr>
              <a:t>Map&lt;Sala, Sala&gt; predecessores = new HashMap&lt;&gt;();</a:t>
            </a:r>
          </a:p>
          <a:p>
            <a:r>
              <a:rPr lang="pt-BR"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r>
              <a:rPr lang="pt-BR" sz="1300" b="0">
                <a:solidFill>
                  <a:srgbClr val="FFFFFF"/>
                </a:solidFill>
                <a:latin typeface="Segoe UI"/>
              </a:rPr>
              <a:t>Ao descobrir um vizinho, a BFS marca como visitado, registra o predecessor e adiciona à fila.</a:t>
            </a:r>
          </a:p>
          <a:p>
            <a:r>
              <a:rPr lang="pt-BR"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r>
              <a:rPr lang="pt-BR" sz="1300" b="0">
                <a:solidFill>
                  <a:srgbClr val="FFFFFF"/>
                </a:solidFill>
                <a:latin typeface="Segoe UI"/>
              </a:rPr>
              <a:t>Os controles percorrem o registro; o estado exibido é reproduzido dos eventos, sem executar uma busca paralela.</a:t>
            </a:r>
          </a:p>
        </p:txBody>
      </p:sp>
      <p:pic>
        <p:nvPicPr>
          <p:cNvPr id="24489" name="Screenshot"/>
          <p:cNvPicPr>
            <a:picLocks noChangeAspect="1"/>
          </p:cNvPicPr>
          <p:nvPr/>
        </p:nvPicPr>
        <p:blipFill>
          <a:blip r:embed="rIdPic"/>
          <a:stretch>
            <a:fillRect/>
          </a:stretch>
        </p:blipFill>
        <p:spPr>
          <a:xfrm>
            <a:off x="5600000" y="1800000"/>
            <a:ext cx="5800000" cy="4400000"/>
          </a:xfrm>
          <a:prstGeom prst="rect">
            <a:avLst/>
          </a:prstGeom>
          <a:ln w="19050">
            <a:solidFill>
              <a:srgbClr val="30363D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ndo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017"/>
          </a:solidFill>
        </p:spPr>
      </p:sp>
      <p:sp>
        <p:nvSpPr>
          <p:cNvPr id="10" name="BarraDecor"/>
          <p:cNvSpPr/>
          <p:nvPr/>
        </p:nvSpPr>
        <p:spPr>
          <a:xfrm>
            <a:off x="762000" y="450000"/>
            <a:ext cx="10668000" cy="3000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418" name="Texto"/>
          <p:cNvSpPr/>
          <p:nvPr/>
        </p:nvSpPr>
        <p:spPr>
          <a:xfrm>
            <a:off x="762000" y="550000"/>
            <a:ext cx="10668000" cy="5500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r>
              <a:rPr lang="pt-BR" sz="2600" b="1">
                <a:solidFill>
                  <a:srgbClr val="F59E0B"/>
                </a:solidFill>
                <a:latin typeface="Segoe UI"/>
              </a:rPr>
              <a:t>07. CAMPANHA, COMBATE E RECOMPENSAS</a:t>
            </a:r>
          </a:p>
        </p:txBody>
      </p:sp>
      <p:sp>
        <p:nvSpPr>
          <p:cNvPr id="46973" name="Texto"/>
          <p:cNvSpPr/>
          <p:nvPr/>
        </p:nvSpPr>
        <p:spPr>
          <a:xfrm>
            <a:off x="762000" y="1100000"/>
            <a:ext cx="10668000" cy="4000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r>
              <a:rPr lang="pt-BR" sz="1500" b="0">
                <a:solidFill>
                  <a:srgbClr val="9CA3AF"/>
                </a:solidFill>
                <a:latin typeface="Segoe UI"/>
              </a:rPr>
              <a:t>Oito fases crescentes, economia persistente e chefes</a:t>
            </a:r>
          </a:p>
        </p:txBody>
      </p:sp>
      <p:pic>
        <p:nvPicPr>
          <p:cNvPr id="12573" name="Screenshot"/>
          <p:cNvPicPr>
            <a:picLocks noChangeAspect="1"/>
          </p:cNvPicPr>
          <p:nvPr/>
        </p:nvPicPr>
        <p:blipFill>
          <a:blip r:embed="rIdPic"/>
          <a:stretch>
            <a:fillRect/>
          </a:stretch>
        </p:blipFill>
        <p:spPr>
          <a:xfrm>
            <a:off x="762000" y="1800000"/>
            <a:ext cx="6800000" cy="4400000"/>
          </a:xfrm>
          <a:prstGeom prst="rect">
            <a:avLst/>
          </a:prstGeom>
          <a:ln w="19050">
            <a:solidFill>
              <a:srgbClr val="30363D"/>
            </a:solidFill>
          </a:ln>
        </p:spPr>
      </p:pic>
      <p:sp>
        <p:nvSpPr>
          <p:cNvPr id="33550" name="Card"/>
          <p:cNvSpPr/>
          <p:nvPr/>
        </p:nvSpPr>
        <p:spPr>
          <a:xfrm>
            <a:off x="7800000" y="1800000"/>
            <a:ext cx="3600000" cy="44000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</p:sp>
      <p:sp>
        <p:nvSpPr>
          <p:cNvPr id="27302" name="Texto"/>
          <p:cNvSpPr/>
          <p:nvPr/>
        </p:nvSpPr>
        <p:spPr>
          <a:xfrm>
            <a:off x="8000000" y="2000000"/>
            <a:ext cx="3200000" cy="3500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r>
              <a:rPr lang="pt-BR" sz="1800" b="1">
                <a:solidFill>
                  <a:srgbClr val="F59E0B"/>
                </a:solidFill>
                <a:latin typeface="Segoe UI"/>
              </a:rPr>
              <a:t>DESTAQUES VISUAIS</a:t>
            </a:r>
          </a:p>
        </p:txBody>
      </p:sp>
      <p:sp>
        <p:nvSpPr>
          <p:cNvPr id="36963" name="Texto"/>
          <p:cNvSpPr/>
          <p:nvPr/>
        </p:nvSpPr>
        <p:spPr>
          <a:xfrm>
            <a:off x="8000000" y="2450000"/>
            <a:ext cx="3200000" cy="35000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r>
              <a:rPr lang="pt-BR" sz="1300" b="0">
                <a:solidFill>
                  <a:srgbClr val="FFFFFF"/>
                </a:solidFill>
                <a:latin typeface="Segoe UI"/>
              </a:rPr>
              <a:t>• Oito regiões crescem de 13 a 34 salas; chefes nas fases 4 e 8.</a:t>
            </a:r>
          </a:p>
          <a:p>
            <a:r>
              <a:rPr lang="pt-BR"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r>
              <a:rPr lang="pt-BR" sz="1300" b="0">
                <a:solidFill>
                  <a:srgbClr val="FFFFFF"/>
                </a:solidFill>
                <a:latin typeface="Segoe UI"/>
              </a:rPr>
              <a:t>• Melhorias e equipamentos alteram vida, dano, resistência e recursos iniciais.</a:t>
            </a:r>
          </a:p>
          <a:p>
            <a:r>
              <a:rPr lang="pt-BR"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r>
              <a:rPr lang="pt-BR" sz="1300" b="0">
                <a:solidFill>
                  <a:srgbClr val="FFFFFF"/>
                </a:solidFill>
                <a:latin typeface="Segoe UI"/>
              </a:rPr>
              <a:t>• Guardiões protegem baús; armadilhas sinalizadas causam dano uma vez por fase.</a:t>
            </a:r>
          </a:p>
          <a:p>
            <a:r>
              <a:rPr lang="pt-BR"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r>
              <a:rPr lang="pt-BR" sz="1300" b="0">
                <a:solidFill>
                  <a:srgbClr val="FFFFFF"/>
                </a:solidFill>
                <a:latin typeface="Segoe UI"/>
              </a:rPr>
              <a:t>• Perfil persistente guarda moedas, compras, consumíveis e resultados; recompensas não duplicam.</a:t>
            </a:r>
          </a:p>
          <a:p>
            <a:r>
              <a:rPr lang="pt-BR"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r>
              <a:rPr lang="pt-BR" sz="1300" b="0">
                <a:solidFill>
                  <a:srgbClr val="FFFFFF"/>
                </a:solidFill>
                <a:latin typeface="Segoe UI"/>
              </a:rPr>
              <a:t>• O Dragão das Sombras guarda o portal final; BFS continua calculando rotas no grafo.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ndo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017"/>
          </a:solidFill>
        </p:spPr>
      </p:sp>
      <p:sp>
        <p:nvSpPr>
          <p:cNvPr id="10" name="BarraDecor"/>
          <p:cNvSpPr/>
          <p:nvPr/>
        </p:nvSpPr>
        <p:spPr>
          <a:xfrm>
            <a:off x="762000" y="450000"/>
            <a:ext cx="10668000" cy="3000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5051" name="Texto"/>
          <p:cNvSpPr/>
          <p:nvPr/>
        </p:nvSpPr>
        <p:spPr>
          <a:xfrm>
            <a:off x="762000" y="550000"/>
            <a:ext cx="10668000" cy="5500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r>
              <a:rPr lang="pt-BR" sz="2600" b="1">
                <a:solidFill>
                  <a:srgbClr val="F59E0B"/>
                </a:solidFill>
                <a:latin typeface="Segoe UI"/>
              </a:rPr>
              <a:t>08. VALIDAÇÃO E TESTES AUTOMATIZADOS</a:t>
            </a:r>
          </a:p>
        </p:txBody>
      </p:sp>
      <p:sp>
        <p:nvSpPr>
          <p:cNvPr id="41132" name="Texto"/>
          <p:cNvSpPr/>
          <p:nvPr/>
        </p:nvSpPr>
        <p:spPr>
          <a:xfrm>
            <a:off x="762000" y="1100000"/>
            <a:ext cx="10668000" cy="4000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r>
              <a:rPr lang="pt-BR" sz="1500" b="0">
                <a:solidFill>
                  <a:srgbClr val="9CA3AF"/>
                </a:solidFill>
                <a:latin typeface="Segoe UI"/>
              </a:rPr>
              <a:t>27 testes standalone cobrem grafo, BFS, campanha e combate</a:t>
            </a:r>
          </a:p>
        </p:txBody>
      </p:sp>
      <p:sp>
        <p:nvSpPr>
          <p:cNvPr id="80338" name="Card"/>
          <p:cNvSpPr/>
          <p:nvPr/>
        </p:nvSpPr>
        <p:spPr>
          <a:xfrm>
            <a:off x="762000" y="1800000"/>
            <a:ext cx="5000000" cy="44000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</p:sp>
      <p:sp>
        <p:nvSpPr>
          <p:cNvPr id="40887" name="Texto"/>
          <p:cNvSpPr/>
          <p:nvPr/>
        </p:nvSpPr>
        <p:spPr>
          <a:xfrm>
            <a:off x="1000000" y="2000000"/>
            <a:ext cx="4500000" cy="3500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r>
              <a:rPr lang="pt-BR" sz="1800" b="1">
                <a:solidFill>
                  <a:srgbClr val="F59E0B"/>
                </a:solidFill>
                <a:latin typeface="Segoe UI"/>
              </a:rPr>
              <a:t>CENÁRIOS TESTADOS</a:t>
            </a:r>
          </a:p>
        </p:txBody>
      </p:sp>
      <p:sp>
        <p:nvSpPr>
          <p:cNvPr id="14168" name="Texto"/>
          <p:cNvSpPr/>
          <p:nvPr/>
        </p:nvSpPr>
        <p:spPr>
          <a:xfrm>
            <a:off x="1000000" y="2450000"/>
            <a:ext cx="4500000" cy="35000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r>
              <a:rPr lang="pt-BR" sz="1100" b="0">
                <a:solidFill>
                  <a:srgbClr val="FFFFFF"/>
                </a:solidFill>
                <a:latin typeface="Segoe UI"/>
              </a:rPr>
              <a:t>✓ Teste 1: Caminho simples entre salas conectadas.</a:t>
            </a:r>
          </a:p>
          <a:p>
            <a:r>
              <a:rPr lang="pt-BR" sz="1100" b="0">
                <a:solidFill>
                  <a:srgbClr val="FFFFFF"/>
                </a:solidFill>
                <a:latin typeface="Segoe UI"/>
              </a:rPr>
              <a:t>✓ Teste 2: Escolha garantida do menor caminho em rotas alternativas.</a:t>
            </a:r>
          </a:p>
          <a:p>
            <a:r>
              <a:rPr lang="pt-BR" sz="1100" b="0">
                <a:solidFill>
                  <a:srgbClr val="FFFFFF"/>
                </a:solidFill>
                <a:latin typeface="Segoe UI"/>
              </a:rPr>
              <a:t>✓ Teste 3: Destino inalcançável (grafo desconexo).</a:t>
            </a:r>
          </a:p>
          <a:p>
            <a:r>
              <a:rPr lang="pt-BR" sz="1100" b="0">
                <a:solidFill>
                  <a:srgbClr val="FFFFFF"/>
                </a:solidFill>
                <a:latin typeface="Segoe UI"/>
              </a:rPr>
              <a:t>✓ Teste 4: Origem igual ao destino (distância 0).</a:t>
            </a:r>
          </a:p>
          <a:p>
            <a:r>
              <a:rPr lang="pt-BR" sz="1100" b="0">
                <a:solidFill>
                  <a:srgbClr val="FFFFFF"/>
                </a:solidFill>
                <a:latin typeface="Segoe UI"/>
              </a:rPr>
              <a:t>✓ Teste 5: Exclusão estrita de salas bloqueadas da rota.</a:t>
            </a:r>
          </a:p>
          <a:p>
            <a:r>
              <a:rPr lang="pt-BR" sz="1100" b="0">
                <a:solidFill>
                  <a:srgbClr val="FFFFFF"/>
                </a:solidFill>
                <a:latin typeface="Segoe UI"/>
              </a:rPr>
              <a:t>✓ Teste 6: Ausência de loops infinitos em grafos cíclicos.</a:t>
            </a:r>
          </a:p>
          <a:p>
            <a:r>
              <a:rPr lang="pt-BR" sz="1100" b="0">
                <a:solidFill>
                  <a:srgbClr val="FFFFFF"/>
                </a:solidFill>
                <a:latin typeface="Segoe UI"/>
              </a:rPr>
              <a:t>✓ Teste 7: Integridade e restauração no reinício da partida.</a:t>
            </a:r>
          </a:p>
          <a:p>
            <a:r>
              <a:rPr lang="pt-BR" sz="1100" b="0">
                <a:solidFill>
                  <a:srgbClr val="FFFFFF"/>
                </a:solidFill>
                <a:latin typeface="Segoe UI"/>
              </a:rPr>
              <a:t>✓ Teste 8: Tesouro único e pontuação.</a:t>
            </a:r>
          </a:p>
          <a:p>
            <a:r>
              <a:rPr lang="pt-BR" sz="1100" b="0">
                <a:solidFill>
                  <a:srgbClr val="FFFFFF"/>
                </a:solidFill>
                <a:latin typeface="Segoe UI"/>
              </a:rPr>
              <a:t>✓ Teste 9: Eventos reais e rota final do BFS.</a:t>
            </a:r>
          </a:p>
          <a:p>
            <a:r>
              <a:rPr lang="pt-BR" sz="1100" b="0">
                <a:solidFill>
                  <a:srgbClr val="FFFFFF"/>
                </a:solidFill>
                <a:latin typeface="Segoe UI"/>
              </a:rPr>
              <a:t>✓ Teste 10: Estado após movimento inválido.</a:t>
            </a:r>
          </a:p>
          <a:p>
            <a:r>
              <a:rPr lang="pt-BR" sz="1100" b="0">
                <a:solidFill>
                  <a:srgbClr val="FFFFFF"/>
                </a:solidFill>
                <a:latin typeface="Segoe UI"/>
              </a:rPr>
              <a:t>✓ Teste 11: Chave, portão e reinício.</a:t>
            </a:r>
          </a:p>
          <a:p>
            <a:r>
              <a:rPr lang="pt-BR" sz="1100" b="0">
                <a:solidFill>
                  <a:srgbClr val="FFFFFF"/>
                </a:solidFill>
                <a:latin typeface="Segoe UI"/>
              </a:rPr>
              <a:t>✓ Teste 12: Condição de vitória.</a:t>
            </a:r>
          </a:p>
          <a:p>
            <a:r>
              <a:rPr lang="pt-BR" sz="1100" b="0">
                <a:solidFill>
                  <a:srgbClr val="FFFFFF"/>
                </a:solidFill>
                <a:latin typeface="Segoe UI"/>
              </a:rPr>
              <a:t>✓ Teste 13: Identidade dos vértices.</a:t>
            </a:r>
          </a:p>
          <a:p>
            <a:r>
              <a:rPr lang="pt-BR" sz="1100" b="0">
                <a:solidFill>
                  <a:srgbClr val="FFFFFF"/>
                </a:solidFill>
                <a:latin typeface="Segoe UI"/>
              </a:rPr>
              <a:t>✓ Teste 14: Dijkstra ponderado.</a:t>
            </a:r>
          </a:p>
          <a:p>
            <a:r>
              <a:rPr lang="pt-BR" sz="1100" b="0">
                <a:solidFill>
                  <a:srgbClr val="FFFFFF"/>
                </a:solidFill>
                <a:latin typeface="Segoe UI"/>
              </a:rPr>
              <a:t>✓ Teste 15: Evento bônus de coleta única.</a:t>
            </a:r>
          </a:p>
          <a:p>
            <a:r>
              <a:rPr lang="pt-BR" sz="1100" b="0">
                <a:solidFill>
                  <a:srgbClr val="FFFFFF"/>
                </a:solidFill>
                <a:latin typeface="Segoe UI"/>
              </a:rPr>
              <a:t>✓ Teste 16: Vértices nulos e grafo vazio.</a:t>
            </a:r>
          </a:p>
          <a:p>
            <a:r>
              <a:rPr lang="pt-BR" sz="1100" b="0">
                <a:solidFill>
                  <a:srgbClr val="FFFFFF"/>
                </a:solidFill>
                <a:latin typeface="Segoe UI"/>
              </a:rPr>
              <a:t>✓ Teste 17: Arestas repetidas sem duplicação.</a:t>
            </a:r>
          </a:p>
          <a:p>
            <a:r>
              <a:rPr lang="pt-BR" sz="1100" b="0">
                <a:solidFill>
                  <a:srgbClr val="FFFFFF"/>
                </a:solidFill>
                <a:latin typeface="Segoe UI"/>
              </a:rPr>
              <a:t>✓ Teste 18: Chave não abre bloqueio permanente.</a:t>
            </a:r>
          </a:p>
          <a:p>
            <a:r>
              <a:rPr lang="pt-BR" sz="1100" b="0">
                <a:solidFill>
                  <a:srgbClr val="FFFFFF"/>
                </a:solidFill>
                <a:latin typeface="Segoe UI"/>
              </a:rPr>
              <a:t>✓ Teste 19: Recompensas únicas das missões.</a:t>
            </a:r>
          </a:p>
          <a:p>
            <a:r>
              <a:rPr lang="pt-BR" sz="1100" b="0">
                <a:solidFill>
                  <a:srgbClr val="FFFFFF"/>
                </a:solidFill>
                <a:latin typeface="Segoe UI"/>
              </a:rPr>
              <a:t>✓ Teste 20: Conclusão da missão de tesouros.</a:t>
            </a:r>
          </a:p>
          <a:p>
            <a:r>
              <a:rPr lang="pt-BR" sz="1100" b="0">
                <a:solidFill>
                  <a:srgbClr val="FFFFFF"/>
                </a:solidFill>
                <a:latin typeface="Segoe UI"/>
              </a:rPr>
              <a:t>✓ Teste 21: Resumo, cronômetro e classificação.</a:t>
            </a:r>
          </a:p>
          <a:p>
            <a:r>
              <a:rPr lang="pt-BR" sz="1100" b="0">
                <a:solidFill>
                  <a:srgbClr val="FFFFFF"/>
                </a:solidFill>
                <a:latin typeface="Segoe UI"/>
              </a:rPr>
              <a:t>✓ Teste 22: Movimento por direção entre vizinhos.</a:t>
            </a:r>
          </a:p>
          <a:p>
            <a:r>
              <a:rPr lang="pt-BR" sz="1100" b="0">
                <a:solidFill>
                  <a:srgbClr val="FFFFFF"/>
                </a:solidFill>
                <a:latin typeface="Segoe UI"/>
              </a:rPr>
              <a:t>✓ Teste 23: Rota alternativa sem a chave.</a:t>
            </a:r>
          </a:p>
          <a:p>
            <a:r>
              <a:rPr lang="pt-BR" sz="1100" b="0">
                <a:solidFill>
                  <a:srgbClr val="FFFFFF"/>
                </a:solidFill>
                <a:latin typeface="Segoe UI"/>
              </a:rPr>
              <a:t>✓ Teste 24: Resumo acumulado da campanha.</a:t>
            </a:r>
          </a:p>
          <a:p>
            <a:r>
              <a:rPr lang="pt-BR" sz="1100" b="0">
                <a:solidFill>
                  <a:srgbClr val="FFFFFF"/>
                </a:solidFill>
                <a:latin typeface="Segoe UI"/>
              </a:rPr>
              <a:t>✓ Teste 25: Progressão entre fases.</a:t>
            </a:r>
          </a:p>
          <a:p>
            <a:r>
              <a:rPr lang="pt-BR" sz="1100" b="0">
                <a:solidFill>
                  <a:srgbClr val="FFFFFF"/>
                </a:solidFill>
                <a:latin typeface="Segoe UI"/>
              </a:rPr>
              <a:t>✓ Teste 26: Combate e consumíveis.</a:t>
            </a:r>
          </a:p>
          <a:p>
            <a:r>
              <a:rPr lang="pt-BR" sz="1100" b="0">
                <a:solidFill>
                  <a:srgbClr val="FFFFFF"/>
                </a:solidFill>
                <a:latin typeface="Segoe UI"/>
              </a:rPr>
              <a:t>✓ Teste 27: Armadilha de dano único.</a:t>
            </a:r>
          </a:p>
        </p:txBody>
      </p:sp>
      <p:sp>
        <p:nvSpPr>
          <p:cNvPr id="26310" name="Card"/>
          <p:cNvSpPr/>
          <p:nvPr/>
        </p:nvSpPr>
        <p:spPr>
          <a:xfrm>
            <a:off x="6400000" y="1800000"/>
            <a:ext cx="5000000" cy="44000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</p:sp>
      <p:sp>
        <p:nvSpPr>
          <p:cNvPr id="29739" name="Texto"/>
          <p:cNvSpPr/>
          <p:nvPr/>
        </p:nvSpPr>
        <p:spPr>
          <a:xfrm>
            <a:off x="6650000" y="2000000"/>
            <a:ext cx="4500000" cy="3500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r>
              <a:rPr lang="pt-BR" sz="1800" b="1">
                <a:solidFill>
                  <a:srgbClr val="10B981"/>
                </a:solidFill>
                <a:latin typeface="Segoe UI"/>
              </a:rPr>
              <a:t>RESULTADO QUANTITATIVO</a:t>
            </a:r>
          </a:p>
        </p:txBody>
      </p:sp>
      <p:sp>
        <p:nvSpPr>
          <p:cNvPr id="69985" name="Texto"/>
          <p:cNvSpPr/>
          <p:nvPr/>
        </p:nvSpPr>
        <p:spPr>
          <a:xfrm>
            <a:off x="6650000" y="2450000"/>
            <a:ext cx="4500000" cy="35000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r>
              <a:rPr lang="pt-BR" sz="1400" b="0">
                <a:solidFill>
                  <a:srgbClr val="FFFFFF"/>
                </a:solidFill>
                <a:latin typeface="Segoe UI"/>
              </a:rPr>
              <a:t>• Última execução: 27 de 27 testes standalone aprovados.</a:t>
            </a:r>
          </a:p>
          <a:p>
            <a:r>
              <a:rPr lang="pt-BR" sz="1400" b="0">
                <a:solidFill>
                  <a:srgbClr val="FFFFFF"/>
                </a:solidFill>
                <a:latin typeface="Segoe UI"/>
              </a:rPr>
              <a:t/>
            </a:r>
          </a:p>
          <a:p>
            <a:r>
              <a:rPr lang="pt-BR" sz="1400" b="0">
                <a:solidFill>
                  <a:srgbClr val="FFFFFF"/>
                </a:solidFill>
                <a:latin typeface="Segoe UI"/>
              </a:rPr>
              <a:t>• Executável via testar.bat no Windows ou argumento --testes no Main.java.</a:t>
            </a:r>
          </a:p>
          <a:p>
            <a:r>
              <a:rPr lang="pt-BR" sz="1400" b="0">
                <a:solidFill>
                  <a:srgbClr val="FFFFFF"/>
                </a:solidFill>
                <a:latin typeface="Segoe UI"/>
              </a:rPr>
              <a:t/>
            </a:r>
          </a:p>
          <a:p>
            <a:r>
              <a:rPr lang="pt-BR" sz="1400" b="0">
                <a:solidFill>
                  <a:srgbClr val="FFFFFF"/>
                </a:solidFill>
                <a:latin typeface="Segoe UI"/>
              </a:rPr>
              <a:t>• Os testes JUnit 5 estão no projeto, mas Maven não estava disponível para executá-los.</a:t>
            </a:r>
          </a:p>
          <a:p>
            <a:r>
              <a:rPr lang="pt-BR" sz="1400" b="0">
                <a:solidFill>
                  <a:srgbClr val="FFFFFF"/>
                </a:solidFill>
                <a:latin typeface="Segoe UI"/>
              </a:rPr>
              <a:t/>
            </a:r>
          </a:p>
          <a:p>
            <a:r>
              <a:rPr lang="pt-BR" sz="1400" b="0">
                <a:solidFill>
                  <a:srgbClr val="FFFFFF"/>
                </a:solidFill>
                <a:latin typeface="Segoe UI"/>
              </a:rPr>
              <a:t>• A compilação Java foi concluída com sucesso.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ndo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017"/>
          </a:solidFill>
        </p:spPr>
      </p:sp>
      <p:sp>
        <p:nvSpPr>
          <p:cNvPr id="10" name="BarraDecor"/>
          <p:cNvSpPr/>
          <p:nvPr/>
        </p:nvSpPr>
        <p:spPr>
          <a:xfrm>
            <a:off x="762000" y="450000"/>
            <a:ext cx="10668000" cy="3000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74707" name="Texto"/>
          <p:cNvSpPr/>
          <p:nvPr/>
        </p:nvSpPr>
        <p:spPr>
          <a:xfrm>
            <a:off x="762000" y="550000"/>
            <a:ext cx="10668000" cy="5500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r>
              <a:rPr lang="pt-BR" sz="2600" b="1">
                <a:solidFill>
                  <a:srgbClr val="F59E0B"/>
                </a:solidFill>
                <a:latin typeface="Segoe UI"/>
              </a:rPr>
              <a:t>09. CONSIDERAÇÕES FINAIS E CONCLUSÃO</a:t>
            </a:r>
          </a:p>
        </p:txBody>
      </p:sp>
      <p:sp>
        <p:nvSpPr>
          <p:cNvPr id="81479" name="Texto"/>
          <p:cNvSpPr/>
          <p:nvPr/>
        </p:nvSpPr>
        <p:spPr>
          <a:xfrm>
            <a:off x="762000" y="1100000"/>
            <a:ext cx="10668000" cy="4000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r>
              <a:rPr lang="pt-BR" sz="1500" b="0">
                <a:solidFill>
                  <a:srgbClr val="9CA3AF"/>
                </a:solidFill>
                <a:latin typeface="Segoe UI"/>
              </a:rPr>
              <a:t>Síntese dos aprendizados e conformidade integral com o enunciado acadêmico</a:t>
            </a:r>
          </a:p>
        </p:txBody>
      </p:sp>
      <p:sp>
        <p:nvSpPr>
          <p:cNvPr id="39085" name="Card"/>
          <p:cNvSpPr/>
          <p:nvPr/>
        </p:nvSpPr>
        <p:spPr>
          <a:xfrm>
            <a:off x="762000" y="1800000"/>
            <a:ext cx="5000000" cy="44000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</p:sp>
      <p:sp>
        <p:nvSpPr>
          <p:cNvPr id="54135" name="Texto"/>
          <p:cNvSpPr/>
          <p:nvPr/>
        </p:nvSpPr>
        <p:spPr>
          <a:xfrm>
            <a:off x="1000000" y="2000000"/>
            <a:ext cx="4500000" cy="3500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r>
              <a:rPr lang="pt-BR" sz="1800" b="1">
                <a:solidFill>
                  <a:srgbClr val="10B981"/>
                </a:solidFill>
                <a:latin typeface="Segoe UI"/>
              </a:rPr>
              <a:t>CONFORMIDADE COM O ENUNCIADO</a:t>
            </a:r>
          </a:p>
        </p:txBody>
      </p:sp>
      <p:sp>
        <p:nvSpPr>
          <p:cNvPr id="39714" name="Texto"/>
          <p:cNvSpPr/>
          <p:nvPr/>
        </p:nvSpPr>
        <p:spPr>
          <a:xfrm>
            <a:off x="1000000" y="2450000"/>
            <a:ext cx="4500000" cy="35000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r>
              <a:rPr lang="pt-BR" sz="1400" b="0">
                <a:solidFill>
                  <a:srgbClr val="FFFFFF"/>
                </a:solidFill>
                <a:latin typeface="Segoe UI"/>
              </a:rPr>
              <a:t>✓ Aplicação desktop completa em Java e Swing.</a:t>
            </a:r>
          </a:p>
          <a:p>
            <a:r>
              <a:rPr lang="pt-BR" sz="1400" b="0">
                <a:solidFill>
                  <a:srgbClr val="FFFFFF"/>
                </a:solidFill>
                <a:latin typeface="Segoe UI"/>
              </a:rPr>
              <a:t/>
            </a:r>
          </a:p>
          <a:p>
            <a:r>
              <a:rPr lang="pt-BR" sz="1400" b="0">
                <a:solidFill>
                  <a:srgbClr val="FFFFFF"/>
                </a:solidFill>
                <a:latin typeface="Segoe UI"/>
              </a:rPr>
              <a:t>✓ Grafo real implementado com Lista de Adjacência.</a:t>
            </a:r>
          </a:p>
          <a:p>
            <a:r>
              <a:rPr lang="pt-BR" sz="1400" b="0">
                <a:solidFill>
                  <a:srgbClr val="FFFFFF"/>
                </a:solidFill>
                <a:latin typeface="Segoe UI"/>
              </a:rPr>
              <a:t/>
            </a:r>
          </a:p>
          <a:p>
            <a:r>
              <a:rPr lang="pt-BR" sz="1400" b="0">
                <a:solidFill>
                  <a:srgbClr val="FFFFFF"/>
                </a:solidFill>
                <a:latin typeface="Segoe UI"/>
              </a:rPr>
              <a:t>✓ BFS e Dijkstra aplicados a objetivos de rota diferentes.</a:t>
            </a:r>
          </a:p>
          <a:p>
            <a:r>
              <a:rPr lang="pt-BR" sz="1400" b="0">
                <a:solidFill>
                  <a:srgbClr val="FFFFFF"/>
                </a:solidFill>
                <a:latin typeface="Segoe UI"/>
              </a:rPr>
              <a:t/>
            </a:r>
          </a:p>
          <a:p>
            <a:r>
              <a:rPr lang="pt-BR" sz="1400" b="0">
                <a:solidFill>
                  <a:srgbClr val="FFFFFF"/>
                </a:solidFill>
                <a:latin typeface="Segoe UI"/>
              </a:rPr>
              <a:t>✓ Mapa visual com conexões 100% fiéis às arestas.</a:t>
            </a:r>
          </a:p>
          <a:p>
            <a:r>
              <a:rPr lang="pt-BR" sz="1400" b="0">
                <a:solidFill>
                  <a:srgbClr val="FFFFFF"/>
                </a:solidFill>
                <a:latin typeface="Segoe UI"/>
              </a:rPr>
              <a:t/>
            </a:r>
          </a:p>
          <a:p>
            <a:r>
              <a:rPr lang="pt-BR" sz="1400" b="0">
                <a:solidFill>
                  <a:srgbClr val="FFFFFF"/>
                </a:solidFill>
                <a:latin typeface="Segoe UI"/>
              </a:rPr>
              <a:t>✓ Apresentação PowerPoint (.pptx) gerada.</a:t>
            </a:r>
          </a:p>
          <a:p>
            <a:r>
              <a:rPr lang="pt-BR" sz="1400" b="0">
                <a:solidFill>
                  <a:srgbClr val="FFFFFF"/>
                </a:solidFill>
                <a:latin typeface="Segoe UI"/>
              </a:rPr>
              <a:t/>
            </a:r>
          </a:p>
          <a:p>
            <a:r>
              <a:rPr lang="pt-BR" sz="1400" b="0">
                <a:solidFill>
                  <a:srgbClr val="FFFFFF"/>
                </a:solidFill>
                <a:latin typeface="Segoe UI"/>
              </a:rPr>
              <a:t>✓ Código-fonte ricamente comentado e documentado.</a:t>
            </a:r>
          </a:p>
        </p:txBody>
      </p:sp>
      <p:sp>
        <p:nvSpPr>
          <p:cNvPr id="3647" name="Card"/>
          <p:cNvSpPr/>
          <p:nvPr/>
        </p:nvSpPr>
        <p:spPr>
          <a:xfrm>
            <a:off x="6400000" y="1800000"/>
            <a:ext cx="5000000" cy="44000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</p:sp>
      <p:sp>
        <p:nvSpPr>
          <p:cNvPr id="27164" name="Texto"/>
          <p:cNvSpPr/>
          <p:nvPr/>
        </p:nvSpPr>
        <p:spPr>
          <a:xfrm>
            <a:off x="6650000" y="2000000"/>
            <a:ext cx="4500000" cy="3500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r>
              <a:rPr lang="pt-BR" sz="1800" b="1">
                <a:solidFill>
                  <a:srgbClr val="F59E0B"/>
                </a:solidFill>
                <a:latin typeface="Segoe UI"/>
              </a:rPr>
              <a:t>POSSÍVEIS MELHORIAS FUTURAS</a:t>
            </a:r>
          </a:p>
        </p:txBody>
      </p:sp>
      <p:sp>
        <p:nvSpPr>
          <p:cNvPr id="41128" name="Texto"/>
          <p:cNvSpPr/>
          <p:nvPr/>
        </p:nvSpPr>
        <p:spPr>
          <a:xfrm>
            <a:off x="6650000" y="2450000"/>
            <a:ext cx="4500000" cy="35000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r>
              <a:rPr lang="pt-BR" sz="1400" b="0">
                <a:solidFill>
                  <a:srgbClr val="FFFFFF"/>
                </a:solidFill>
                <a:latin typeface="Segoe UI"/>
              </a:rPr>
              <a:t>• Implementar geração procedural de masmorras com Prim ou Kruskal.</a:t>
            </a:r>
          </a:p>
          <a:p>
            <a:r>
              <a:rPr lang="pt-BR" sz="1400" b="0">
                <a:solidFill>
                  <a:srgbClr val="FFFFFF"/>
                </a:solidFill>
                <a:latin typeface="Segoe UI"/>
              </a:rPr>
              <a:t/>
            </a:r>
          </a:p>
          <a:p>
            <a:r>
              <a:rPr lang="pt-BR" sz="1400" b="0">
                <a:solidFill>
                  <a:srgbClr val="FFFFFF"/>
                </a:solidFill>
                <a:latin typeface="Segoe UI"/>
              </a:rPr>
              <a:t>• Busca Bidirecional: Otimização da BFS buscando simultaneamente a partir da origem e do destino.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aphQuest Medieval Theme">
  <a:themeElements>
    <a:clrScheme name="MedievalDark">
      <a:dk1>
        <a:srgbClr val="0D1017"/>
      </a:dk1>
      <a:lt1>
        <a:srgbClr val="FFFFFF"/>
      </a:lt1>
      <a:dk2>
        <a:srgbClr val="161B22"/>
      </a:dk2>
      <a:lt2>
        <a:srgbClr val="F3F4F6"/>
      </a:lt2>
      <a:accent1>
        <a:srgbClr val="F59E0B"/>
      </a:accent1>
      <a:accent2>
        <a:srgbClr val="10B981"/>
      </a:accent2>
      <a:accent3>
        <a:srgbClr val="3B82F6"/>
      </a:accent3>
      <a:accent4>
        <a:srgbClr val="EF4444"/>
      </a:accent4>
      <a:accent5>
        <a:srgbClr val="8B5CF6"/>
      </a:accent5>
      <a:accent6>
        <a:srgbClr val="FBBF24"/>
      </a:accent6>
      <a:hlink>
        <a:srgbClr val="3B82F6"/>
      </a:hlink>
      <a:folHlink>
        <a:srgbClr val="8B5CF6"/>
      </a:folHlink>
    </a:clrScheme>
    <a:fontScheme name="ModernSans">
      <a:majorFont>
        <a:latin typeface="Segoe UI Semibold"/>
      </a:majorFont>
      <a:minorFont>
        <a:latin typeface="Segoe UI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